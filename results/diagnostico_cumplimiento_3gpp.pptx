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 cy="384048"/>
          </a:xfrm>
          <a:prstGeom prst="rect">
            <a:avLst/>
          </a:prstGeom>
          <a:solidFill>
            <a:srgbClr val="1132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640080"/>
            <a:ext cx="2560320" cy="640080"/>
          </a:xfrm>
          <a:prstGeom prst="rect">
            <a:avLst/>
          </a:prstGeom>
          <a:solidFill>
            <a:srgbClr val="1132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2600">
                <a:solidFill>
                  <a:srgbClr val="FFFFFF"/>
                </a:solidFill>
              </a:rPr>
              <a:t>HACOM</a:t>
            </a:r>
          </a:p>
        </p:txBody>
      </p:sp>
      <p:sp>
        <p:nvSpPr>
          <p:cNvPr id="4" name="TextBox 3"/>
          <p:cNvSpPr txBox="1"/>
          <p:nvPr/>
        </p:nvSpPr>
        <p:spPr>
          <a:xfrm>
            <a:off x="731520" y="1463040"/>
            <a:ext cx="6858000" cy="457200"/>
          </a:xfrm>
          <a:prstGeom prst="rect">
            <a:avLst/>
          </a:prstGeom>
          <a:noFill/>
        </p:spPr>
        <p:txBody>
          <a:bodyPr wrap="none">
            <a:spAutoFit/>
          </a:bodyPr>
          <a:lstStyle/>
          <a:p>
            <a:r>
              <a:rPr sz="2700" b="1">
                <a:solidFill>
                  <a:srgbClr val="113256"/>
                </a:solidFill>
              </a:rPr>
              <a:t>Diagnóstico de cumplimiento 3GPP</a:t>
            </a:r>
          </a:p>
        </p:txBody>
      </p:sp>
      <p:sp>
        <p:nvSpPr>
          <p:cNvPr id="5" name="TextBox 4"/>
          <p:cNvSpPr txBox="1"/>
          <p:nvPr/>
        </p:nvSpPr>
        <p:spPr>
          <a:xfrm>
            <a:off x="731520" y="2011680"/>
            <a:ext cx="7406640" cy="457200"/>
          </a:xfrm>
          <a:prstGeom prst="rect">
            <a:avLst/>
          </a:prstGeom>
          <a:noFill/>
        </p:spPr>
        <p:txBody>
          <a:bodyPr wrap="none">
            <a:spAutoFit/>
          </a:bodyPr>
          <a:lstStyle/>
          <a:p>
            <a:r>
              <a:rPr sz="2400" b="1">
                <a:solidFill>
                  <a:srgbClr val="113256"/>
                </a:solidFill>
              </a:rPr>
              <a:t>maqueta-ims-3 — estado tras corrección</a:t>
            </a:r>
          </a:p>
        </p:txBody>
      </p:sp>
      <p:sp>
        <p:nvSpPr>
          <p:cNvPr id="6" name="TextBox 5"/>
          <p:cNvSpPr txBox="1"/>
          <p:nvPr/>
        </p:nvSpPr>
        <p:spPr>
          <a:xfrm>
            <a:off x="731520" y="2743200"/>
            <a:ext cx="6583680" cy="2011680"/>
          </a:xfrm>
          <a:prstGeom prst="rect">
            <a:avLst/>
          </a:prstGeom>
          <a:noFill/>
        </p:spPr>
        <p:txBody>
          <a:bodyPr wrap="square">
            <a:spAutoFit/>
          </a:bodyPr>
          <a:lstStyle/>
          <a:p>
            <a:r>
              <a:rPr sz="1800">
                <a:solidFill>
                  <a:srgbClr val="232C3A"/>
                </a:solidFill>
              </a:rPr>
              <a:t>Documento vivo: diagnóstico original del tráfico SIP/IMS y estado de corrección.</a:t>
            </a:r>
          </a:p>
          <a:p>
            <a:r>
              <a:rPr sz="1600">
                <a:solidFill>
                  <a:srgbClr val="232C3A"/>
                </a:solidFill>
              </a:rPr>
              <a:t>Objetivo: validar los puntos de fallo reportados y dejar evidencia reproducible del estado actual.</a:t>
            </a:r>
          </a:p>
          <a:p>
            <a:r>
              <a:rPr sz="1600">
                <a:solidFill>
                  <a:srgbClr val="232C3A"/>
                </a:solidFill>
              </a:rPr>
              <a:t>Resultado: la maqueta corrige los incumplimientos críticos de autenticación y registro IMS, quedando en un estado útil para pruebas de validación 3GPP.</a:t>
            </a:r>
          </a:p>
        </p:txBody>
      </p:sp>
      <p:sp>
        <p:nvSpPr>
          <p:cNvPr id="7" name="Rectangle 6"/>
          <p:cNvSpPr/>
          <p:nvPr/>
        </p:nvSpPr>
        <p:spPr>
          <a:xfrm>
            <a:off x="8229600" y="1280160"/>
            <a:ext cx="3291840" cy="3840480"/>
          </a:xfrm>
          <a:prstGeom prst="rect">
            <a:avLst/>
          </a:prstGeom>
          <a:solidFill>
            <a:srgbClr val="11325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800">
                <a:solidFill>
                  <a:srgbClr val="FFFFFF"/>
                </a:solidFill>
              </a:rPr>
              <a:t>3GPP</a:t>
            </a:r>
          </a:p>
          <a:p>
            <a:pPr algn="ctr"/>
            <a:r>
              <a:rPr b="0" sz="1600">
                <a:solidFill>
                  <a:srgbClr val="FFFFFF"/>
                </a:solidFill>
              </a:rPr>
              <a:t>TS 33.203</a:t>
            </a:r>
          </a:p>
          <a:p>
            <a:pPr algn="ctr"/>
            <a:r>
              <a:rPr b="1" sz="1600">
                <a:solidFill>
                  <a:srgbClr val="FFFFFF"/>
                </a:solidFill>
              </a:rPr>
              <a:t>TS 24.229</a:t>
            </a:r>
          </a:p>
          <a:p>
            <a:pPr algn="ctr"/>
            <a:r>
              <a:rPr b="0" sz="1600">
                <a:solidFill>
                  <a:srgbClr val="FFFFFF"/>
                </a:solidFill>
              </a:rPr>
              <a:t>TS 23.003</a:t>
            </a:r>
          </a:p>
          <a:p>
            <a:pPr algn="ctr"/>
            <a:r>
              <a:rPr b="1" sz="1800">
                <a:solidFill>
                  <a:srgbClr val="FFFFFF"/>
                </a:solidFill>
              </a:rPr>
              <a:t>SIP / IMS</a:t>
            </a:r>
          </a:p>
          <a:p>
            <a:pPr algn="ctr"/>
            <a:r>
              <a:rPr b="0" sz="1600">
                <a:solidFill>
                  <a:srgbClr val="FFFFFF"/>
                </a:solidFill>
              </a:rPr>
              <a:t>E2E 15/15</a:t>
            </a:r>
          </a:p>
        </p:txBody>
      </p:sp>
      <p:sp>
        <p:nvSpPr>
          <p:cNvPr id="8" name="TextBox 7"/>
          <p:cNvSpPr txBox="1"/>
          <p:nvPr/>
        </p:nvSpPr>
        <p:spPr>
          <a:xfrm>
            <a:off x="548640" y="6446520"/>
            <a:ext cx="10972800" cy="228600"/>
          </a:xfrm>
          <a:prstGeom prst="rect">
            <a:avLst/>
          </a:prstGeom>
          <a:noFill/>
        </p:spPr>
        <p:txBody>
          <a:bodyPr wrap="none">
            <a:spAutoFit/>
          </a:bodyPr>
          <a:lstStyle/>
          <a:p>
            <a:pPr algn="r"/>
            <a:r>
              <a:rPr sz="800">
                <a:solidFill>
                  <a:srgbClr val="6B7682"/>
                </a:solidFill>
              </a:rPr>
              <a:t>IMS / 3GPP compliance | HACOM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 cy="384048"/>
          </a:xfrm>
          <a:prstGeom prst="rect">
            <a:avLst/>
          </a:prstGeom>
          <a:solidFill>
            <a:srgbClr val="1132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058400" cy="457200"/>
          </a:xfrm>
          <a:prstGeom prst="rect">
            <a:avLst/>
          </a:prstGeom>
          <a:noFill/>
        </p:spPr>
        <p:txBody>
          <a:bodyPr wrap="none">
            <a:spAutoFit/>
          </a:bodyPr>
          <a:lstStyle/>
          <a:p>
            <a:r>
              <a:rPr sz="2400" b="1">
                <a:solidFill>
                  <a:srgbClr val="113256"/>
                </a:solidFill>
              </a:rPr>
              <a:t>Resumen ejecutivo</a:t>
            </a:r>
          </a:p>
        </p:txBody>
      </p:sp>
      <p:sp>
        <p:nvSpPr>
          <p:cNvPr id="4" name="TextBox 3"/>
          <p:cNvSpPr txBox="1"/>
          <p:nvPr/>
        </p:nvSpPr>
        <p:spPr>
          <a:xfrm>
            <a:off x="548640" y="987552"/>
            <a:ext cx="10515600" cy="320040"/>
          </a:xfrm>
          <a:prstGeom prst="rect">
            <a:avLst/>
          </a:prstGeom>
          <a:noFill/>
        </p:spPr>
        <p:txBody>
          <a:bodyPr wrap="none">
            <a:spAutoFit/>
          </a:bodyPr>
          <a:lstStyle/>
          <a:p>
            <a:r>
              <a:rPr sz="1100" i="1">
                <a:solidFill>
                  <a:srgbClr val="6B7682"/>
                </a:solidFill>
              </a:rPr>
              <a:t>Actualización tras la corrección de los incumplimientos críticos</a:t>
            </a:r>
          </a:p>
        </p:txBody>
      </p:sp>
      <p:sp>
        <p:nvSpPr>
          <p:cNvPr id="5" name="Rounded Rectangle 4"/>
          <p:cNvSpPr/>
          <p:nvPr/>
        </p:nvSpPr>
        <p:spPr>
          <a:xfrm>
            <a:off x="640080" y="1463040"/>
            <a:ext cx="2377440" cy="1645920"/>
          </a:xfrm>
          <a:prstGeom prst="roundRect">
            <a:avLst/>
          </a:prstGeom>
          <a:solidFill>
            <a:srgbClr val="F4F7F9"/>
          </a:solidFill>
          <a:ln w="15240">
            <a:solidFill>
              <a:srgbClr val="2880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B7682"/>
                </a:solidFill>
              </a:rPr>
              <a:t>Autenticación AKA</a:t>
            </a:r>
          </a:p>
          <a:p>
            <a:r>
              <a:rPr sz="2200" b="1">
                <a:solidFill>
                  <a:srgbClr val="28804C"/>
                </a:solidFill>
              </a:rPr>
              <a:t>CORREGIDO</a:t>
            </a:r>
          </a:p>
          <a:p>
            <a:r>
              <a:rPr sz="900">
                <a:solidFill>
                  <a:srgbClr val="232C3A"/>
                </a:solidFill>
              </a:rPr>
              <a:t>AKAv1-MD5 validado por sonda</a:t>
            </a:r>
          </a:p>
        </p:txBody>
      </p:sp>
      <p:sp>
        <p:nvSpPr>
          <p:cNvPr id="6" name="Rounded Rectangle 5"/>
          <p:cNvSpPr/>
          <p:nvPr/>
        </p:nvSpPr>
        <p:spPr>
          <a:xfrm>
            <a:off x="3383280" y="1463040"/>
            <a:ext cx="2560320" cy="1645920"/>
          </a:xfrm>
          <a:prstGeom prst="roundRect">
            <a:avLst/>
          </a:prstGeom>
          <a:solidFill>
            <a:srgbClr val="F4F7F9"/>
          </a:solidFill>
          <a:ln w="15240">
            <a:solidFill>
              <a:srgbClr val="D4AC3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B7682"/>
                </a:solidFill>
              </a:rPr>
              <a:t>Seguridad Gm / SIP</a:t>
            </a:r>
          </a:p>
          <a:p>
            <a:r>
              <a:rPr sz="2200" b="1">
                <a:solidFill>
                  <a:srgbClr val="D4AC3C"/>
                </a:solidFill>
              </a:rPr>
              <a:t>PARCIAL</a:t>
            </a:r>
          </a:p>
          <a:p>
            <a:r>
              <a:rPr sz="900">
                <a:solidFill>
                  <a:srgbClr val="232C3A"/>
                </a:solidFill>
              </a:rPr>
              <a:t>Nivel SIP OK; túnel ESP pendiente</a:t>
            </a:r>
          </a:p>
        </p:txBody>
      </p:sp>
      <p:sp>
        <p:nvSpPr>
          <p:cNvPr id="7" name="Rounded Rectangle 6"/>
          <p:cNvSpPr/>
          <p:nvPr/>
        </p:nvSpPr>
        <p:spPr>
          <a:xfrm>
            <a:off x="6400800" y="1463040"/>
            <a:ext cx="2560320" cy="1645920"/>
          </a:xfrm>
          <a:prstGeom prst="roundRect">
            <a:avLst/>
          </a:prstGeom>
          <a:solidFill>
            <a:srgbClr val="F4F7F9"/>
          </a:solidFill>
          <a:ln w="15240">
            <a:solidFill>
              <a:srgbClr val="2079B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B7682"/>
                </a:solidFill>
              </a:rPr>
              <a:t>Contact / identity IMS</a:t>
            </a:r>
          </a:p>
          <a:p>
            <a:r>
              <a:rPr sz="2200" b="1">
                <a:solidFill>
                  <a:srgbClr val="2079B5"/>
                </a:solidFill>
              </a:rPr>
              <a:t>CORREGIDO</a:t>
            </a:r>
          </a:p>
          <a:p>
            <a:r>
              <a:rPr sz="900">
                <a:solidFill>
                  <a:srgbClr val="232C3A"/>
                </a:solidFill>
              </a:rPr>
              <a:t>IMPU normalizado + feature-tags</a:t>
            </a:r>
          </a:p>
        </p:txBody>
      </p:sp>
      <p:sp>
        <p:nvSpPr>
          <p:cNvPr id="8" name="Rounded Rectangle 7"/>
          <p:cNvSpPr/>
          <p:nvPr/>
        </p:nvSpPr>
        <p:spPr>
          <a:xfrm>
            <a:off x="9326880" y="1463040"/>
            <a:ext cx="2011680" cy="1645920"/>
          </a:xfrm>
          <a:prstGeom prst="roundRect">
            <a:avLst/>
          </a:prstGeom>
          <a:solidFill>
            <a:srgbClr val="F4F7F9"/>
          </a:solidFill>
          <a:ln w="15240">
            <a:solidFill>
              <a:srgbClr val="188F8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B7682"/>
                </a:solidFill>
              </a:rPr>
              <a:t>E2E validado</a:t>
            </a:r>
          </a:p>
          <a:p>
            <a:r>
              <a:rPr sz="2200" b="1">
                <a:solidFill>
                  <a:srgbClr val="188F8E"/>
                </a:solidFill>
              </a:rPr>
              <a:t>15/15</a:t>
            </a:r>
          </a:p>
          <a:p>
            <a:r>
              <a:rPr sz="900">
                <a:solidFill>
                  <a:srgbClr val="232C3A"/>
                </a:solidFill>
              </a:rPr>
              <a:t>test_maqueta.sh PASS</a:t>
            </a:r>
          </a:p>
        </p:txBody>
      </p:sp>
      <p:sp>
        <p:nvSpPr>
          <p:cNvPr id="9" name="TextBox 8"/>
          <p:cNvSpPr txBox="1"/>
          <p:nvPr/>
        </p:nvSpPr>
        <p:spPr>
          <a:xfrm>
            <a:off x="731520" y="3566160"/>
            <a:ext cx="10698480" cy="2194560"/>
          </a:xfrm>
          <a:prstGeom prst="rect">
            <a:avLst/>
          </a:prstGeom>
          <a:noFill/>
        </p:spPr>
        <p:txBody>
          <a:bodyPr wrap="square">
            <a:spAutoFit/>
          </a:bodyPr>
          <a:lstStyle/>
          <a:p>
            <a:pPr algn="l"/>
            <a:r>
              <a:rPr sz="1500">
                <a:solidFill>
                  <a:srgbClr val="232C3A"/>
                </a:solidFill>
              </a:rPr>
              <a:t>El principal problema crítico corregido fue la autenticación: el 401 original exigía MD5 y la corrección lleva el flujo a AKAv1-MD5 con la identidad adecuada.</a:t>
            </a:r>
          </a:p>
          <a:p>
            <a:pPr algn="l"/>
            <a:r>
              <a:rPr sz="1500">
                <a:solidFill>
                  <a:srgbClr val="232C3A"/>
                </a:solidFill>
              </a:rPr>
              <a:t>La negociación SIP-level de seguridad ya se materializa con Security-Client / Server / Verify; el túnel ESP real sigue pendiente por limitación del entorno Docker.</a:t>
            </a:r>
          </a:p>
          <a:p>
            <a:pPr algn="l"/>
            <a:r>
              <a:rPr sz="1500">
                <a:solidFill>
                  <a:srgbClr val="232C3A"/>
                </a:solidFill>
              </a:rPr>
              <a:t>Los registros IMS usan IMPU normalizado (MSISDN) y no IMSI, cumpliendo la práctica 3GPP y evitando el 403 de HSS User Unknown.</a:t>
            </a:r>
          </a:p>
          <a:p>
            <a:pPr algn="l"/>
            <a:r>
              <a:rPr sz="1500">
                <a:solidFill>
                  <a:srgbClr val="232C3A"/>
                </a:solidFill>
              </a:rPr>
              <a:t>La validación final con pruebas E2E confirma PASS: 15 / FAIL: 0.</a:t>
            </a:r>
          </a:p>
        </p:txBody>
      </p:sp>
      <p:sp>
        <p:nvSpPr>
          <p:cNvPr id="10" name="TextBox 9"/>
          <p:cNvSpPr txBox="1"/>
          <p:nvPr/>
        </p:nvSpPr>
        <p:spPr>
          <a:xfrm>
            <a:off x="548640" y="6446520"/>
            <a:ext cx="10972800" cy="228600"/>
          </a:xfrm>
          <a:prstGeom prst="rect">
            <a:avLst/>
          </a:prstGeom>
          <a:noFill/>
        </p:spPr>
        <p:txBody>
          <a:bodyPr wrap="none">
            <a:spAutoFit/>
          </a:bodyPr>
          <a:lstStyle/>
          <a:p>
            <a:pPr algn="r"/>
            <a:r>
              <a:rPr sz="800">
                <a:solidFill>
                  <a:srgbClr val="6B7682"/>
                </a:solidFill>
              </a:rPr>
              <a:t>IMS / 3GPP compliance | HACOM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 cy="384048"/>
          </a:xfrm>
          <a:prstGeom prst="rect">
            <a:avLst/>
          </a:prstGeom>
          <a:solidFill>
            <a:srgbClr val="1132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058400" cy="457200"/>
          </a:xfrm>
          <a:prstGeom prst="rect">
            <a:avLst/>
          </a:prstGeom>
          <a:noFill/>
        </p:spPr>
        <p:txBody>
          <a:bodyPr wrap="none">
            <a:spAutoFit/>
          </a:bodyPr>
          <a:lstStyle/>
          <a:p>
            <a:r>
              <a:rPr sz="2400" b="1">
                <a:solidFill>
                  <a:srgbClr val="113256"/>
                </a:solidFill>
              </a:rPr>
              <a:t>1. Incumplimientos críticos — Estado tras corrección</a:t>
            </a:r>
          </a:p>
        </p:txBody>
      </p:sp>
      <p:sp>
        <p:nvSpPr>
          <p:cNvPr id="4" name="TextBox 3"/>
          <p:cNvSpPr txBox="1"/>
          <p:nvPr/>
        </p:nvSpPr>
        <p:spPr>
          <a:xfrm>
            <a:off x="548640" y="987552"/>
            <a:ext cx="10515600" cy="320040"/>
          </a:xfrm>
          <a:prstGeom prst="rect">
            <a:avLst/>
          </a:prstGeom>
          <a:noFill/>
        </p:spPr>
        <p:txBody>
          <a:bodyPr wrap="none">
            <a:spAutoFit/>
          </a:bodyPr>
          <a:lstStyle/>
          <a:p>
            <a:r>
              <a:rPr sz="1100" i="1">
                <a:solidFill>
                  <a:srgbClr val="6B7682"/>
                </a:solidFill>
              </a:rPr>
              <a:t>Puntos de fallo reportados y resolución aplicada</a:t>
            </a:r>
          </a:p>
        </p:txBody>
      </p:sp>
      <p:sp>
        <p:nvSpPr>
          <p:cNvPr id="5" name="Rounded Rectangle 4"/>
          <p:cNvSpPr/>
          <p:nvPr/>
        </p:nvSpPr>
        <p:spPr>
          <a:xfrm>
            <a:off x="640080" y="1371600"/>
            <a:ext cx="5212080" cy="2011680"/>
          </a:xfrm>
          <a:prstGeom prst="roundRect">
            <a:avLst/>
          </a:prstGeom>
          <a:solidFill>
            <a:srgbClr val="F4F7F9"/>
          </a:solidFill>
          <a:ln w="15240">
            <a:solidFill>
              <a:srgbClr val="2079B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500">
                <a:solidFill>
                  <a:srgbClr val="113256"/>
                </a:solidFill>
              </a:rPr>
              <a:t>1.1 Autenticación AKA</a:t>
            </a:r>
          </a:p>
          <a:p>
            <a:r>
              <a:rPr sz="1100">
                <a:solidFill>
                  <a:srgbClr val="232C3A"/>
                </a:solidFill>
              </a:rPr>
              <a:t>Problema original: 401 exigía algorithm=MD5. Violación TS 33.203. Corrección: S-CSCF aplica AKAv1-MD5; PyHSS y UAR/MAR normalizan por MSISDN; la sonda completa Digest-AKAv1-MD5 extremo a extremo con 200 OK.</a:t>
            </a:r>
          </a:p>
        </p:txBody>
      </p:sp>
      <p:sp>
        <p:nvSpPr>
          <p:cNvPr id="6" name="Rounded Rectangle 5"/>
          <p:cNvSpPr/>
          <p:nvPr/>
        </p:nvSpPr>
        <p:spPr>
          <a:xfrm>
            <a:off x="640080" y="3749039"/>
            <a:ext cx="5212080" cy="2011680"/>
          </a:xfrm>
          <a:prstGeom prst="roundRect">
            <a:avLst/>
          </a:prstGeom>
          <a:solidFill>
            <a:srgbClr val="F4F7F9"/>
          </a:solidFill>
          <a:ln w="15240">
            <a:solidFill>
              <a:srgbClr val="2079B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500">
                <a:solidFill>
                  <a:srgbClr val="113256"/>
                </a:solidFill>
              </a:rPr>
              <a:t>1.2 Seguridad Gm / IPSec</a:t>
            </a:r>
          </a:p>
          <a:p>
            <a:r>
              <a:rPr sz="1100">
                <a:solidFill>
                  <a:srgbClr val="232C3A"/>
                </a:solidFill>
              </a:rPr>
              <a:t>La negociación SIP-level ya ocurre con Security-Client / Security-Server / Security-Verify. El túnel ESP real no se materializa por falta de NET_ADMIN en Docker, así que la capa señalización queda resuelta pero no la capa IPsec real.</a:t>
            </a:r>
          </a:p>
        </p:txBody>
      </p:sp>
      <p:sp>
        <p:nvSpPr>
          <p:cNvPr id="7" name="Rounded Rectangle 6"/>
          <p:cNvSpPr/>
          <p:nvPr/>
        </p:nvSpPr>
        <p:spPr>
          <a:xfrm>
            <a:off x="6217920" y="1371600"/>
            <a:ext cx="5303520" cy="2011680"/>
          </a:xfrm>
          <a:prstGeom prst="roundRect">
            <a:avLst/>
          </a:prstGeom>
          <a:solidFill>
            <a:srgbClr val="F4F7F9"/>
          </a:solidFill>
          <a:ln w="15240">
            <a:solidFill>
              <a:srgbClr val="2079B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500">
                <a:solidFill>
                  <a:srgbClr val="113256"/>
                </a:solidFill>
              </a:rPr>
              <a:t>1.3 Contact + feature-tags</a:t>
            </a:r>
          </a:p>
          <a:p>
            <a:r>
              <a:rPr sz="1100">
                <a:solidFill>
                  <a:srgbClr val="232C3A"/>
                </a:solidFill>
              </a:rPr>
              <a:t>Se corrige el uso de Contact con IP directa y se incorporan atributos IMS como +g.3gpp.icsi-ref y +g.3gpp.smsip. El registro pasa a tener sentido 3GPP en la capa de control.</a:t>
            </a:r>
          </a:p>
        </p:txBody>
      </p:sp>
      <p:sp>
        <p:nvSpPr>
          <p:cNvPr id="8" name="Rounded Rectangle 7"/>
          <p:cNvSpPr/>
          <p:nvPr/>
        </p:nvSpPr>
        <p:spPr>
          <a:xfrm>
            <a:off x="6217920" y="3749039"/>
            <a:ext cx="5303520" cy="2011680"/>
          </a:xfrm>
          <a:prstGeom prst="roundRect">
            <a:avLst/>
          </a:prstGeom>
          <a:solidFill>
            <a:srgbClr val="F4F7F9"/>
          </a:solidFill>
          <a:ln w="15240">
            <a:solidFill>
              <a:srgbClr val="2079B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500">
                <a:solidFill>
                  <a:srgbClr val="113256"/>
                </a:solidFill>
              </a:rPr>
              <a:t>1.4 Identities SIP / IMPU + IMPI</a:t>
            </a:r>
          </a:p>
          <a:p>
            <a:r>
              <a:rPr sz="1100">
                <a:solidFill>
                  <a:srgbClr val="232C3A"/>
                </a:solidFill>
              </a:rPr>
              <a:t>Antes se usaba IMSI en URI. Ahora el registro usa IMPU normalizado sip:0010100001@… y el Authorization conserva la identidad privada (IMPI). El fallo HSS User Unknown queda corregido.</a:t>
            </a:r>
          </a:p>
        </p:txBody>
      </p:sp>
      <p:sp>
        <p:nvSpPr>
          <p:cNvPr id="9" name="TextBox 8"/>
          <p:cNvSpPr txBox="1"/>
          <p:nvPr/>
        </p:nvSpPr>
        <p:spPr>
          <a:xfrm>
            <a:off x="548640" y="6446520"/>
            <a:ext cx="10972800" cy="228600"/>
          </a:xfrm>
          <a:prstGeom prst="rect">
            <a:avLst/>
          </a:prstGeom>
          <a:noFill/>
        </p:spPr>
        <p:txBody>
          <a:bodyPr wrap="none">
            <a:spAutoFit/>
          </a:bodyPr>
          <a:lstStyle/>
          <a:p>
            <a:pPr algn="r"/>
            <a:r>
              <a:rPr sz="800">
                <a:solidFill>
                  <a:srgbClr val="6B7682"/>
                </a:solidFill>
              </a:rPr>
              <a:t>IMS / 3GPP compliance | HACOM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 cy="384048"/>
          </a:xfrm>
          <a:prstGeom prst="rect">
            <a:avLst/>
          </a:prstGeom>
          <a:solidFill>
            <a:srgbClr val="1132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058400" cy="457200"/>
          </a:xfrm>
          <a:prstGeom prst="rect">
            <a:avLst/>
          </a:prstGeom>
          <a:noFill/>
        </p:spPr>
        <p:txBody>
          <a:bodyPr wrap="none">
            <a:spAutoFit/>
          </a:bodyPr>
          <a:lstStyle/>
          <a:p>
            <a:r>
              <a:rPr sz="2400" b="1">
                <a:solidFill>
                  <a:srgbClr val="113256"/>
                </a:solidFill>
              </a:rPr>
              <a:t>1.1 Algoritmo de autenticación (TS 33.203)</a:t>
            </a:r>
          </a:p>
        </p:txBody>
      </p:sp>
      <p:sp>
        <p:nvSpPr>
          <p:cNvPr id="4" name="TextBox 3"/>
          <p:cNvSpPr txBox="1"/>
          <p:nvPr/>
        </p:nvSpPr>
        <p:spPr>
          <a:xfrm>
            <a:off x="731520" y="1371600"/>
            <a:ext cx="10972800" cy="5029200"/>
          </a:xfrm>
          <a:prstGeom prst="rect">
            <a:avLst/>
          </a:prstGeom>
          <a:noFill/>
        </p:spPr>
        <p:txBody>
          <a:bodyPr wrap="square">
            <a:spAutoFit/>
          </a:bodyPr>
          <a:lstStyle/>
          <a:p>
            <a:pPr algn="l"/>
            <a:r>
              <a:rPr sz="1400">
                <a:solidFill>
                  <a:srgbClr val="232C3A"/>
                </a:solidFill>
              </a:rPr>
              <a:t>Problema original: 401 Unauthorized exigía algorithm=MD5.</a:t>
            </a:r>
          </a:p>
          <a:p>
            <a:pPr algn="l"/>
            <a:r>
              <a:rPr sz="1400">
                <a:solidFill>
                  <a:srgbClr val="232C3A"/>
                </a:solidFill>
              </a:rPr>
              <a:t>Violación: 3GPP exige AKA-v1-MD5 / AKA-v2-SHA-256 con vector USIM/ISIM.</a:t>
            </a:r>
          </a:p>
          <a:p>
            <a:pPr algn="l"/>
            <a:r>
              <a:rPr sz="1400">
                <a:solidFill>
                  <a:srgbClr val="232C3A"/>
                </a:solidFill>
              </a:rPr>
              <a:t>Corrección aplicada: scscf/kamailio_scscf.cfg autentica con AKAv1-MD5 si viene Security-Client; si no, aplica MD5 como fallback.</a:t>
            </a:r>
          </a:p>
          <a:p>
            <a:pPr algn="l"/>
            <a:r>
              <a:rPr sz="1400">
                <a:solidFill>
                  <a:srgbClr val="232C3A"/>
                </a:solidFill>
              </a:rPr>
              <a:t>scscf/scscf.cfg activa REG_AUTH_DEFAULT_ALG = "AKAv1-MD5" y desactiva HSS-Selected.</a:t>
            </a:r>
          </a:p>
          <a:p>
            <a:pPr algn="l"/>
            <a:r>
              <a:rPr sz="1400">
                <a:solidFill>
                  <a:srgbClr val="232C3A"/>
                </a:solidFill>
              </a:rPr>
              <a:t>La interfaz de provisión crea el vector auc con opc y sqn correctos; PyHSS normaliza UAR/MAR por MSISDN si el username del Cx no es IMSI de 15 dígitos.</a:t>
            </a:r>
          </a:p>
          <a:p>
            <a:pPr algn="l"/>
            <a:r>
              <a:rPr sz="1400">
                <a:solidFill>
                  <a:srgbClr val="232C3A"/>
                </a:solidFill>
              </a:rPr>
              <a:t>Evidencia: scripts/ue_aka_probe.py completa Digest-AKAv1-MD5 extremo a extremo con 200 OK. El flujo recibe WWW-Authenticate con algorithm=AKAv1-MD5, ck/ik, qop="auth".</a:t>
            </a:r>
          </a:p>
          <a:p>
            <a:pPr algn="l"/>
            <a:r>
              <a:rPr sz="1400">
                <a:solidFill>
                  <a:srgbClr val="232C3A"/>
                </a:solidFill>
              </a:rPr>
              <a:t>Limitación real: pjsua 2.14 no completa AKA estándar por usar password=KI en lugar de XRES; la vía idónea para este tipo de demo es la sonda, no el cliente PJSUA.</a:t>
            </a:r>
          </a:p>
        </p:txBody>
      </p:sp>
      <p:sp>
        <p:nvSpPr>
          <p:cNvPr id="5" name="TextBox 4"/>
          <p:cNvSpPr txBox="1"/>
          <p:nvPr/>
        </p:nvSpPr>
        <p:spPr>
          <a:xfrm>
            <a:off x="548640" y="6446520"/>
            <a:ext cx="10972800" cy="228600"/>
          </a:xfrm>
          <a:prstGeom prst="rect">
            <a:avLst/>
          </a:prstGeom>
          <a:noFill/>
        </p:spPr>
        <p:txBody>
          <a:bodyPr wrap="none">
            <a:spAutoFit/>
          </a:bodyPr>
          <a:lstStyle/>
          <a:p>
            <a:pPr algn="r"/>
            <a:r>
              <a:rPr sz="800">
                <a:solidFill>
                  <a:srgbClr val="6B7682"/>
                </a:solidFill>
              </a:rPr>
              <a:t>IMS / 3GPP compliance | HACOM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 cy="384048"/>
          </a:xfrm>
          <a:prstGeom prst="rect">
            <a:avLst/>
          </a:prstGeom>
          <a:solidFill>
            <a:srgbClr val="1132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058400" cy="457200"/>
          </a:xfrm>
          <a:prstGeom prst="rect">
            <a:avLst/>
          </a:prstGeom>
          <a:noFill/>
        </p:spPr>
        <p:txBody>
          <a:bodyPr wrap="none">
            <a:spAutoFit/>
          </a:bodyPr>
          <a:lstStyle/>
          <a:p>
            <a:r>
              <a:rPr sz="2400" b="1">
                <a:solidFill>
                  <a:srgbClr val="113256"/>
                </a:solidFill>
              </a:rPr>
              <a:t>1.2 Seguridad de la interfaz Gm / IPSec (TS 33.203)</a:t>
            </a:r>
          </a:p>
        </p:txBody>
      </p:sp>
      <p:sp>
        <p:nvSpPr>
          <p:cNvPr id="4" name="TextBox 3"/>
          <p:cNvSpPr txBox="1"/>
          <p:nvPr/>
        </p:nvSpPr>
        <p:spPr>
          <a:xfrm>
            <a:off x="731520" y="1371600"/>
            <a:ext cx="10972800" cy="5029200"/>
          </a:xfrm>
          <a:prstGeom prst="rect">
            <a:avLst/>
          </a:prstGeom>
          <a:noFill/>
        </p:spPr>
        <p:txBody>
          <a:bodyPr wrap="square">
            <a:spAutoFit/>
          </a:bodyPr>
          <a:lstStyle/>
          <a:p>
            <a:pPr algn="l"/>
            <a:r>
              <a:rPr sz="1400">
                <a:solidFill>
                  <a:srgbClr val="232C3A"/>
                </a:solidFill>
              </a:rPr>
              <a:t>Problema original: ausencia de Security-Client / Security-Server / Security-Verify.</a:t>
            </a:r>
          </a:p>
          <a:p>
            <a:pPr algn="l"/>
            <a:r>
              <a:rPr sz="1400">
                <a:solidFill>
                  <a:srgbClr val="232C3A"/>
                </a:solidFill>
              </a:rPr>
              <a:t>Estado: la negociación SIP-level ya ocurre: UE envía Security-Client: ipsec-3gpp; alg=hmac-sha-1-96; spi…; port…</a:t>
            </a:r>
          </a:p>
          <a:p>
            <a:pPr algn="l"/>
            <a:r>
              <a:rPr sz="1400">
                <a:solidFill>
                  <a:srgbClr val="232C3A"/>
                </a:solidFill>
              </a:rPr>
              <a:t>P-CSCF responde con Security-Server en el 401 y confirma con Security-Verify en el 200 OK (RFC 3329), añadido en pcscf/route/register.cfg.</a:t>
            </a:r>
          </a:p>
          <a:p>
            <a:pPr algn="l"/>
            <a:r>
              <a:rPr sz="1400">
                <a:solidFill>
                  <a:srgbClr val="232C3A"/>
                </a:solidFill>
              </a:rPr>
              <a:t>Ck/ik ya no se filtran al UE: el strip que estaba dentro de WITH_IPSEC se movió fuera; la 401 hacia el UE llega con algorithm=AKAv1-MD5, qop="auth" sin ck=/ik=.</a:t>
            </a:r>
          </a:p>
          <a:p>
            <a:pPr algn="l"/>
            <a:r>
              <a:rPr sz="1400">
                <a:solidFill>
                  <a:srgbClr val="232C3A"/>
                </a:solidFill>
              </a:rPr>
              <a:t>Colateral corregido: en la 401 ya no se filtran las claves del túnel.</a:t>
            </a:r>
          </a:p>
          <a:p>
            <a:pPr algn="l"/>
            <a:r>
              <a:rPr sz="1400">
                <a:solidFill>
                  <a:srgbClr val="232C3A"/>
                </a:solidFill>
              </a:rPr>
              <a:t>Pendiente documentado: el túnel IPsec ESP real no materializa por falta de privilegios de kernel (NET_ADMIN) en Docker. La negociación Gm queda soportada a nivel de señalización, no de plano de datos.</a:t>
            </a:r>
          </a:p>
        </p:txBody>
      </p:sp>
      <p:sp>
        <p:nvSpPr>
          <p:cNvPr id="5" name="TextBox 4"/>
          <p:cNvSpPr txBox="1"/>
          <p:nvPr/>
        </p:nvSpPr>
        <p:spPr>
          <a:xfrm>
            <a:off x="548640" y="6446520"/>
            <a:ext cx="10972800" cy="228600"/>
          </a:xfrm>
          <a:prstGeom prst="rect">
            <a:avLst/>
          </a:prstGeom>
          <a:noFill/>
        </p:spPr>
        <p:txBody>
          <a:bodyPr wrap="none">
            <a:spAutoFit/>
          </a:bodyPr>
          <a:lstStyle/>
          <a:p>
            <a:pPr algn="r"/>
            <a:r>
              <a:rPr sz="800">
                <a:solidFill>
                  <a:srgbClr val="6B7682"/>
                </a:solidFill>
              </a:rPr>
              <a:t>IMS / 3GPP compliance | HACOM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 cy="384048"/>
          </a:xfrm>
          <a:prstGeom prst="rect">
            <a:avLst/>
          </a:prstGeom>
          <a:solidFill>
            <a:srgbClr val="1132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058400" cy="457200"/>
          </a:xfrm>
          <a:prstGeom prst="rect">
            <a:avLst/>
          </a:prstGeom>
          <a:noFill/>
        </p:spPr>
        <p:txBody>
          <a:bodyPr wrap="none">
            <a:spAutoFit/>
          </a:bodyPr>
          <a:lstStyle/>
          <a:p>
            <a:r>
              <a:rPr sz="2400" b="1">
                <a:solidFill>
                  <a:srgbClr val="113256"/>
                </a:solidFill>
              </a:rPr>
              <a:t>1.3 / 1.4 Formato de Contact e identidades SIP</a:t>
            </a:r>
          </a:p>
        </p:txBody>
      </p:sp>
      <p:sp>
        <p:nvSpPr>
          <p:cNvPr id="4" name="TextBox 3"/>
          <p:cNvSpPr txBox="1"/>
          <p:nvPr/>
        </p:nvSpPr>
        <p:spPr>
          <a:xfrm>
            <a:off x="731520" y="1280160"/>
            <a:ext cx="10972800" cy="5212080"/>
          </a:xfrm>
          <a:prstGeom prst="rect">
            <a:avLst/>
          </a:prstGeom>
          <a:noFill/>
        </p:spPr>
        <p:txBody>
          <a:bodyPr wrap="square">
            <a:spAutoFit/>
          </a:bodyPr>
          <a:lstStyle/>
          <a:p>
            <a:pPr algn="l"/>
            <a:r>
              <a:rPr sz="1400">
                <a:solidFill>
                  <a:srgbClr val="232C3A"/>
                </a:solidFill>
              </a:rPr>
              <a:t>Formato Contact: Contact: &lt;sip:…&gt;;+g.3gpp.icsi-ref="urn:urn-7:3gpp-service.ims.icsi.mmtel";+g.3gpp.smsip. El P-CSCF procesa y guarda el contacto con feature-tags.</a:t>
            </a:r>
          </a:p>
          <a:p>
            <a:pPr algn="l"/>
            <a:r>
              <a:rPr sz="1400">
                <a:solidFill>
                  <a:srgbClr val="232C3A"/>
                </a:solidFill>
              </a:rPr>
              <a:t>Antes: Contact con IP directa …:5061;ob, sin características IMS. Ahora se usa el formato correcto y el registro mantiene la semántica de la identidad IMS.</a:t>
            </a:r>
          </a:p>
          <a:p>
            <a:pPr algn="l"/>
            <a:r>
              <a:rPr sz="1400">
                <a:solidFill>
                  <a:srgbClr val="232C3A"/>
                </a:solidFill>
              </a:rPr>
              <a:t>Antes: From/To usaban IMSI como URI: sip:001011234567890@…</a:t>
            </a:r>
          </a:p>
          <a:p>
            <a:pPr algn="l"/>
            <a:r>
              <a:rPr sz="1400">
                <a:solidFill>
                  <a:srgbClr val="232C3A"/>
                </a:solidFill>
              </a:rPr>
              <a:t>Ahora: el registro usa IMPU normalizado sip:0010100001@ims.mnc001.mcc001.3gppnetwork.org (MSISDN) en From/To; la identidad privada IMPI se declara en Authorization.</a:t>
            </a:r>
          </a:p>
          <a:p>
            <a:pPr algn="l"/>
            <a:r>
              <a:rPr sz="1400">
                <a:solidFill>
                  <a:srgbClr val="232C3A"/>
                </a:solidFill>
              </a:rPr>
              <a:t>scripts/test_maqueta.sh migró a --id sip:$MSISDN@… + --username $MSISDN para mantener el flujo correcto.</a:t>
            </a:r>
          </a:p>
          <a:p>
            <a:pPr algn="l"/>
            <a:r>
              <a:rPr sz="1400">
                <a:solidFill>
                  <a:srgbClr val="232C3A"/>
                </a:solidFill>
              </a:rPr>
              <a:t>Caveat PJSUA: pjsua no envía la identidad privada (IMPI) en el primer REGISTER, por lo que en la vía MD5 el digest usa el MSISDN. La vía AKA conforme la demuestra la sonda ue_aka_probe.py.</a:t>
            </a:r>
          </a:p>
        </p:txBody>
      </p:sp>
      <p:sp>
        <p:nvSpPr>
          <p:cNvPr id="5" name="TextBox 4"/>
          <p:cNvSpPr txBox="1"/>
          <p:nvPr/>
        </p:nvSpPr>
        <p:spPr>
          <a:xfrm>
            <a:off x="548640" y="6446520"/>
            <a:ext cx="10972800" cy="228600"/>
          </a:xfrm>
          <a:prstGeom prst="rect">
            <a:avLst/>
          </a:prstGeom>
          <a:noFill/>
        </p:spPr>
        <p:txBody>
          <a:bodyPr wrap="none">
            <a:spAutoFit/>
          </a:bodyPr>
          <a:lstStyle/>
          <a:p>
            <a:pPr algn="r"/>
            <a:r>
              <a:rPr sz="800">
                <a:solidFill>
                  <a:srgbClr val="6B7682"/>
                </a:solidFill>
              </a:rPr>
              <a:t>IMS / 3GPP compliance | HACOM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 cy="384048"/>
          </a:xfrm>
          <a:prstGeom prst="rect">
            <a:avLst/>
          </a:prstGeom>
          <a:solidFill>
            <a:srgbClr val="1132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058400" cy="457200"/>
          </a:xfrm>
          <a:prstGeom prst="rect">
            <a:avLst/>
          </a:prstGeom>
          <a:noFill/>
        </p:spPr>
        <p:txBody>
          <a:bodyPr wrap="none">
            <a:spAutoFit/>
          </a:bodyPr>
          <a:lstStyle/>
          <a:p>
            <a:r>
              <a:rPr sz="2400" b="1">
                <a:solidFill>
                  <a:srgbClr val="113256"/>
                </a:solidFill>
              </a:rPr>
              <a:t>2. Desviaciones en el establecimiento de llamada (INVITE)</a:t>
            </a:r>
          </a:p>
        </p:txBody>
      </p:sp>
      <p:sp>
        <p:nvSpPr>
          <p:cNvPr id="4" name="TextBox 3"/>
          <p:cNvSpPr txBox="1"/>
          <p:nvPr/>
        </p:nvSpPr>
        <p:spPr>
          <a:xfrm>
            <a:off x="731520" y="1371600"/>
            <a:ext cx="10972800" cy="5029200"/>
          </a:xfrm>
          <a:prstGeom prst="rect">
            <a:avLst/>
          </a:prstGeom>
          <a:noFill/>
        </p:spPr>
        <p:txBody>
          <a:bodyPr wrap="square">
            <a:spAutoFit/>
          </a:bodyPr>
          <a:lstStyle/>
          <a:p>
            <a:pPr algn="l"/>
            <a:r>
              <a:rPr sz="1400">
                <a:solidFill>
                  <a:srgbClr val="232C3A"/>
                </a:solidFill>
              </a:rPr>
              <a:t>2.1 Cabeceras P-Header (TS 24.229): antes el INVITE saliente no llevaba P-Preferred-Identity ni P-Access-Network-Info.</a:t>
            </a:r>
          </a:p>
          <a:p>
            <a:pPr algn="l"/>
            <a:r>
              <a:rPr sz="1400">
                <a:solidFill>
                  <a:srgbClr val="232C3A"/>
                </a:solidFill>
              </a:rPr>
              <a:t>Corrección aplicada en pcscf/kamailio_pcscf.cfg ruta MO: si el UE no las envía, el P-CSCF inserta P-Access-Network-Info: 3GPP-E-UTRAN-FDD; utran-cell-id-3gpp=0020100000f101 y P-Preferred-Identity: &lt;sip:$fu@dominio&gt;.</a:t>
            </a:r>
          </a:p>
          <a:p>
            <a:pPr algn="l"/>
            <a:r>
              <a:rPr sz="1400">
                <a:solidFill>
                  <a:srgbClr val="232C3A"/>
                </a:solidFill>
              </a:rPr>
              <a:t>También se inserta PANI en el REGISTER en pcscf/route/register.cfg.</a:t>
            </a:r>
          </a:p>
          <a:p>
            <a:pPr algn="l"/>
            <a:r>
              <a:rPr sz="1400">
                <a:solidFill>
                  <a:srgbClr val="232C3A"/>
                </a:solidFill>
              </a:rPr>
              <a:t>2.2 Parámetros SDP / codecs (TS 26.114): el problema original era que SDP no llevaba AMR/AMR-WB.</a:t>
            </a:r>
          </a:p>
          <a:p>
            <a:pPr algn="l"/>
            <a:r>
              <a:rPr sz="1400">
                <a:solidFill>
                  <a:srgbClr val="232C3A"/>
                </a:solidFill>
              </a:rPr>
              <a:t>Estado: la red sí puede servir AMR; FreeSWITCH carga mod_amr.so/mod_amrwb.so y RTPEngine/FS permiten transcodificar a/de AMR.</a:t>
            </a:r>
          </a:p>
          <a:p>
            <a:pPr algn="l"/>
            <a:r>
              <a:rPr sz="1400">
                <a:solidFill>
                  <a:srgbClr val="232C3A"/>
                </a:solidFill>
              </a:rPr>
              <a:t>Limitación del cliente: pjsua de la maqueta se compiló sin códec AMR (solo iLBC/GSM/G722); por ese motivo el SDP de tests E2E continúa sin AMR por parte del UE.</a:t>
            </a:r>
          </a:p>
          <a:p>
            <a:pPr algn="l"/>
            <a:r>
              <a:rPr sz="1400">
                <a:solidFill>
                  <a:srgbClr val="232C3A"/>
                </a:solidFill>
              </a:rPr>
              <a:t>Se requiere un cliente MTSI (Linphone/UCRaw con AMR) para probar AMR extremo a extremo.</a:t>
            </a:r>
          </a:p>
        </p:txBody>
      </p:sp>
      <p:sp>
        <p:nvSpPr>
          <p:cNvPr id="5" name="TextBox 4"/>
          <p:cNvSpPr txBox="1"/>
          <p:nvPr/>
        </p:nvSpPr>
        <p:spPr>
          <a:xfrm>
            <a:off x="548640" y="6446520"/>
            <a:ext cx="10972800" cy="228600"/>
          </a:xfrm>
          <a:prstGeom prst="rect">
            <a:avLst/>
          </a:prstGeom>
          <a:noFill/>
        </p:spPr>
        <p:txBody>
          <a:bodyPr wrap="none">
            <a:spAutoFit/>
          </a:bodyPr>
          <a:lstStyle/>
          <a:p>
            <a:pPr algn="r"/>
            <a:r>
              <a:rPr sz="800">
                <a:solidFill>
                  <a:srgbClr val="6B7682"/>
                </a:solidFill>
              </a:rPr>
              <a:t>IMS / 3GPP compliance | HACOM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 cy="384048"/>
          </a:xfrm>
          <a:prstGeom prst="rect">
            <a:avLst/>
          </a:prstGeom>
          <a:solidFill>
            <a:srgbClr val="1132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058400" cy="457200"/>
          </a:xfrm>
          <a:prstGeom prst="rect">
            <a:avLst/>
          </a:prstGeom>
          <a:noFill/>
        </p:spPr>
        <p:txBody>
          <a:bodyPr wrap="none">
            <a:spAutoFit/>
          </a:bodyPr>
          <a:lstStyle/>
          <a:p>
            <a:r>
              <a:rPr sz="2400" b="1">
                <a:solidFill>
                  <a:srgbClr val="113256"/>
                </a:solidFill>
              </a:rPr>
              <a:t>Resumen de evaluación actualizado</a:t>
            </a:r>
          </a:p>
        </p:txBody>
      </p:sp>
      <p:sp>
        <p:nvSpPr>
          <p:cNvPr id="4" name="TextBox 3"/>
          <p:cNvSpPr txBox="1"/>
          <p:nvPr/>
        </p:nvSpPr>
        <p:spPr>
          <a:xfrm>
            <a:off x="731520" y="1371600"/>
            <a:ext cx="10972800" cy="4846320"/>
          </a:xfrm>
          <a:prstGeom prst="rect">
            <a:avLst/>
          </a:prstGeom>
          <a:noFill/>
        </p:spPr>
        <p:txBody>
          <a:bodyPr wrap="square">
            <a:spAutoFit/>
          </a:bodyPr>
          <a:lstStyle/>
          <a:p>
            <a:pPr algn="l"/>
            <a:r>
              <a:rPr sz="1200">
                <a:solidFill>
                  <a:srgbClr val="232C3A"/>
                </a:solidFill>
              </a:rPr>
              <a:t>Flujo Registrar (P-I-S CSCF) | Cumple | Cumple | test 15/15</a:t>
            </a:r>
          </a:p>
          <a:p>
            <a:pPr algn="l"/>
            <a:r>
              <a:rPr sz="1200">
                <a:solidFill>
                  <a:srgbClr val="232C3A"/>
                </a:solidFill>
              </a:rPr>
              <a:t>Cabeceras Path / Service-Route | Cumple | Cumple | test 15/15</a:t>
            </a:r>
          </a:p>
          <a:p>
            <a:pPr algn="l"/>
            <a:r>
              <a:rPr sz="1200">
                <a:solidFill>
                  <a:srgbClr val="232C3A"/>
                </a:solidFill>
              </a:rPr>
              <a:t>Autenticación AKA (AKAv1-MD5) | No cumple | Cumple | sonda UE AKA → 200 OK</a:t>
            </a:r>
          </a:p>
          <a:p>
            <a:pPr algn="l"/>
            <a:r>
              <a:rPr sz="1200">
                <a:solidFill>
                  <a:srgbClr val="232C3A"/>
                </a:solidFill>
              </a:rPr>
              <a:t>Algoritmo 401 por defecto | MD5 | AKAv1-MD5 (fallback MD5) | 401 capturada</a:t>
            </a:r>
          </a:p>
          <a:p>
            <a:pPr algn="l"/>
            <a:r>
              <a:rPr sz="1200">
                <a:solidFill>
                  <a:srgbClr val="232C3A"/>
                </a:solidFill>
              </a:rPr>
              <a:t>Security-Client/Server/Verify | No cumple | Cumple (nivel SIP) | 401 Security-Server + 200 Security-Verify</a:t>
            </a:r>
          </a:p>
          <a:p>
            <a:pPr algn="l"/>
            <a:r>
              <a:rPr sz="1200">
                <a:solidFill>
                  <a:srgbClr val="232C3A"/>
                </a:solidFill>
              </a:rPr>
              <a:t>ck/ik no llegan al UE | N/A (filtraban) | Cumple | 401 hacia UE</a:t>
            </a:r>
          </a:p>
          <a:p>
            <a:pPr algn="l"/>
            <a:r>
              <a:rPr sz="1200">
                <a:solidFill>
                  <a:srgbClr val="232C3A"/>
                </a:solidFill>
              </a:rPr>
              <a:t>Contact + feature-tags | No cumple | Cumple | REGISTER capturado</a:t>
            </a:r>
          </a:p>
          <a:p>
            <a:pPr algn="l"/>
            <a:r>
              <a:rPr sz="1200">
                <a:solidFill>
                  <a:srgbClr val="232C3A"/>
                </a:solidFill>
              </a:rPr>
              <a:t>IMPU formal (sin IMSI en URI) | No cumple | Cumple | --id sip:$MSISDN@…</a:t>
            </a:r>
          </a:p>
          <a:p>
            <a:pPr algn="l"/>
            <a:r>
              <a:rPr sz="1200">
                <a:solidFill>
                  <a:srgbClr val="232C3A"/>
                </a:solidFill>
              </a:rPr>
              <a:t>UAR/MAR con identidad pública (MSISDN) | N/A (403) | Cumple | logs UAR/MAR</a:t>
            </a:r>
          </a:p>
          <a:p>
            <a:pPr algn="l"/>
            <a:r>
              <a:rPr sz="1200">
                <a:solidFill>
                  <a:srgbClr val="232C3A"/>
                </a:solidFill>
              </a:rPr>
              <a:t>INVITE P-Preferred-Identity / P-Access-Network-Info | No cumple | Cumple | Kamailio P-CSCF MO</a:t>
            </a:r>
          </a:p>
          <a:p>
            <a:pPr algn="l"/>
            <a:r>
              <a:rPr sz="1200">
                <a:solidFill>
                  <a:srgbClr val="232C3A"/>
                </a:solidFill>
              </a:rPr>
              <a:t>Codecs AMR/AMR-WB (MTSI) | No cumple | Parcial | red sí; cliente no</a:t>
            </a:r>
          </a:p>
        </p:txBody>
      </p:sp>
      <p:sp>
        <p:nvSpPr>
          <p:cNvPr id="5" name="TextBox 4"/>
          <p:cNvSpPr txBox="1"/>
          <p:nvPr/>
        </p:nvSpPr>
        <p:spPr>
          <a:xfrm>
            <a:off x="548640" y="6446520"/>
            <a:ext cx="10972800" cy="228600"/>
          </a:xfrm>
          <a:prstGeom prst="rect">
            <a:avLst/>
          </a:prstGeom>
          <a:noFill/>
        </p:spPr>
        <p:txBody>
          <a:bodyPr wrap="none">
            <a:spAutoFit/>
          </a:bodyPr>
          <a:lstStyle/>
          <a:p>
            <a:pPr algn="r"/>
            <a:r>
              <a:rPr sz="800">
                <a:solidFill>
                  <a:srgbClr val="6B7682"/>
                </a:solidFill>
              </a:rPr>
              <a:t>IMS / 3GPP compliance | HACOM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 cy="384048"/>
          </a:xfrm>
          <a:prstGeom prst="rect">
            <a:avLst/>
          </a:prstGeom>
          <a:solidFill>
            <a:srgbClr val="1132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058400" cy="457200"/>
          </a:xfrm>
          <a:prstGeom prst="rect">
            <a:avLst/>
          </a:prstGeom>
          <a:noFill/>
        </p:spPr>
        <p:txBody>
          <a:bodyPr wrap="none">
            <a:spAutoFit/>
          </a:bodyPr>
          <a:lstStyle/>
          <a:p>
            <a:r>
              <a:rPr sz="2400" b="1">
                <a:solidFill>
                  <a:srgbClr val="113256"/>
                </a:solidFill>
              </a:rPr>
              <a:t>3. Recomendaciones de corrección y seguimiento</a:t>
            </a:r>
          </a:p>
        </p:txBody>
      </p:sp>
      <p:sp>
        <p:nvSpPr>
          <p:cNvPr id="4" name="TextBox 3"/>
          <p:cNvSpPr txBox="1"/>
          <p:nvPr/>
        </p:nvSpPr>
        <p:spPr>
          <a:xfrm>
            <a:off x="731520" y="1463040"/>
            <a:ext cx="10972800" cy="5029200"/>
          </a:xfrm>
          <a:prstGeom prst="rect">
            <a:avLst/>
          </a:prstGeom>
          <a:noFill/>
        </p:spPr>
        <p:txBody>
          <a:bodyPr wrap="square">
            <a:spAutoFit/>
          </a:bodyPr>
          <a:lstStyle/>
          <a:p>
            <a:pPr algn="l"/>
            <a:r>
              <a:rPr sz="1500">
                <a:solidFill>
                  <a:srgbClr val="232C3A"/>
                </a:solidFill>
              </a:rPr>
              <a:t>✓ Configurar AKA / Digest-AKAv1-MD5 → Hecho: S-CSCF + PyHSS + sonda validan con 200 OK.</a:t>
            </a:r>
          </a:p>
          <a:p>
            <a:pPr algn="l"/>
            <a:r>
              <a:rPr sz="1500">
                <a:solidFill>
                  <a:srgbClr val="232C3A"/>
                </a:solidFill>
              </a:rPr>
              <a:t>✓ Negociación IPSec Gm → Nivel SIP hecho; túnel ESP pendiente por necesidad de kernel con IPsec / NET_ADMIN en Docker.</a:t>
            </a:r>
          </a:p>
          <a:p>
            <a:pPr algn="l"/>
            <a:r>
              <a:rPr sz="1500">
                <a:solidFill>
                  <a:srgbClr val="232C3A"/>
                </a:solidFill>
              </a:rPr>
              <a:t>✓ AMR / AMR-WB en SDP → Parcial: la red lo soporta, pero hace falta un cliente MTSI con AMR para probarlo extremo a extremo.</a:t>
            </a:r>
          </a:p>
          <a:p>
            <a:pPr algn="l"/>
            <a:r>
              <a:rPr sz="1500">
                <a:solidFill>
                  <a:srgbClr val="232C3A"/>
                </a:solidFill>
              </a:rPr>
              <a:t>✓ P-Access-Network-Info / P-Preferred-Identity → Hecho: P-CSCF inserta los headers en REGISTER e INVITE.</a:t>
            </a:r>
          </a:p>
          <a:p>
            <a:pPr algn="l"/>
            <a:r>
              <a:rPr sz="1500">
                <a:solidFill>
                  <a:srgbClr val="232C3A"/>
                </a:solidFill>
              </a:rPr>
              <a:t>Resultado E2E: scripts/test_maqueta.sh → PASS 15 / FAIL 0.</a:t>
            </a:r>
          </a:p>
        </p:txBody>
      </p:sp>
      <p:sp>
        <p:nvSpPr>
          <p:cNvPr id="5" name="TextBox 4"/>
          <p:cNvSpPr txBox="1"/>
          <p:nvPr/>
        </p:nvSpPr>
        <p:spPr>
          <a:xfrm>
            <a:off x="548640" y="6446520"/>
            <a:ext cx="10972800" cy="228600"/>
          </a:xfrm>
          <a:prstGeom prst="rect">
            <a:avLst/>
          </a:prstGeom>
          <a:noFill/>
        </p:spPr>
        <p:txBody>
          <a:bodyPr wrap="none">
            <a:spAutoFit/>
          </a:bodyPr>
          <a:lstStyle/>
          <a:p>
            <a:pPr algn="r"/>
            <a:r>
              <a:rPr sz="800">
                <a:solidFill>
                  <a:srgbClr val="6B7682"/>
                </a:solidFill>
              </a:rPr>
              <a:t>IMS / 3GPP compliance | HACOM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 cy="384048"/>
          </a:xfrm>
          <a:prstGeom prst="rect">
            <a:avLst/>
          </a:prstGeom>
          <a:solidFill>
            <a:srgbClr val="1132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058400" cy="457200"/>
          </a:xfrm>
          <a:prstGeom prst="rect">
            <a:avLst/>
          </a:prstGeom>
          <a:noFill/>
        </p:spPr>
        <p:txBody>
          <a:bodyPr wrap="none">
            <a:spAutoFit/>
          </a:bodyPr>
          <a:lstStyle/>
          <a:p>
            <a:r>
              <a:rPr sz="2400" b="1">
                <a:solidFill>
                  <a:srgbClr val="113256"/>
                </a:solidFill>
              </a:rPr>
              <a:t>4. Reproducción de evidencia</a:t>
            </a:r>
          </a:p>
        </p:txBody>
      </p:sp>
      <p:sp>
        <p:nvSpPr>
          <p:cNvPr id="4" name="TextBox 3"/>
          <p:cNvSpPr txBox="1"/>
          <p:nvPr/>
        </p:nvSpPr>
        <p:spPr>
          <a:xfrm>
            <a:off x="731520" y="1371600"/>
            <a:ext cx="10972800" cy="4846320"/>
          </a:xfrm>
          <a:prstGeom prst="rect">
            <a:avLst/>
          </a:prstGeom>
          <a:noFill/>
        </p:spPr>
        <p:txBody>
          <a:bodyPr wrap="square">
            <a:spAutoFit/>
          </a:bodyPr>
          <a:lstStyle/>
          <a:p>
            <a:pPr algn="l"/>
            <a:r>
              <a:rPr sz="1400">
                <a:solidFill>
                  <a:srgbClr val="232C3A"/>
                </a:solidFill>
              </a:rPr>
              <a:t>1) Sonda AKA: docker cp maqueta-ims-3/scripts/ue_aka_probe.py mims3_pyhss_hss:/tmp/ &amp;&amp; docker exec mims3_pyhss_hss python3 /tmp/ue_aka_probe.py</a:t>
            </a:r>
          </a:p>
          <a:p>
            <a:pPr algn="l"/>
            <a:r>
              <a:rPr sz="1400">
                <a:solidFill>
                  <a:srgbClr val="232C3A"/>
                </a:solidFill>
              </a:rPr>
              <a:t>Resultado esperado: "RESULTADO: AUTHENTICACIÓN AKAv1-MD5 COMPLETADA (200 OK)"</a:t>
            </a:r>
          </a:p>
          <a:p>
            <a:pPr algn="l"/>
            <a:r>
              <a:rPr sz="1400">
                <a:solidFill>
                  <a:srgbClr val="232C3A"/>
                </a:solidFill>
              </a:rPr>
              <a:t>2) E2E de la maqueta: bash maqueta-ims-3/scripts/test_maqueta.sh</a:t>
            </a:r>
          </a:p>
          <a:p>
            <a:pPr algn="l"/>
            <a:r>
              <a:rPr sz="1400">
                <a:solidFill>
                  <a:srgbClr val="232C3A"/>
                </a:solidFill>
              </a:rPr>
              <a:t>Resultado esperado: PASS: 15 FAIL: 0 ESTADO: OK</a:t>
            </a:r>
          </a:p>
          <a:p>
            <a:pPr algn="l"/>
            <a:r>
              <a:rPr sz="1400">
                <a:solidFill>
                  <a:srgbClr val="232C3A"/>
                </a:solidFill>
              </a:rPr>
              <a:t>3) Persistencia: parche de PyHSS en maqueta-ims-3/pyhss/diameter.py; valor por MSISDN y UAR/MAR normalizados. El archivo se monta :ro en servicios pyhss_hss y pyhss_diameter.</a:t>
            </a:r>
          </a:p>
        </p:txBody>
      </p:sp>
      <p:sp>
        <p:nvSpPr>
          <p:cNvPr id="5" name="TextBox 4"/>
          <p:cNvSpPr txBox="1"/>
          <p:nvPr/>
        </p:nvSpPr>
        <p:spPr>
          <a:xfrm>
            <a:off x="548640" y="6446520"/>
            <a:ext cx="10972800" cy="228600"/>
          </a:xfrm>
          <a:prstGeom prst="rect">
            <a:avLst/>
          </a:prstGeom>
          <a:noFill/>
        </p:spPr>
        <p:txBody>
          <a:bodyPr wrap="none">
            <a:spAutoFit/>
          </a:bodyPr>
          <a:lstStyle/>
          <a:p>
            <a:pPr algn="r"/>
            <a:r>
              <a:rPr sz="800">
                <a:solidFill>
                  <a:srgbClr val="6B7682"/>
                </a:solidFill>
              </a:rPr>
              <a:t>IMS / 3GPP compliance | HACOM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 cy="384048"/>
          </a:xfrm>
          <a:prstGeom prst="rect">
            <a:avLst/>
          </a:prstGeom>
          <a:solidFill>
            <a:srgbClr val="1132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058400" cy="457200"/>
          </a:xfrm>
          <a:prstGeom prst="rect">
            <a:avLst/>
          </a:prstGeom>
          <a:noFill/>
        </p:spPr>
        <p:txBody>
          <a:bodyPr wrap="none">
            <a:spAutoFit/>
          </a:bodyPr>
          <a:lstStyle/>
          <a:p>
            <a:r>
              <a:rPr sz="2400" b="1">
                <a:solidFill>
                  <a:srgbClr val="113256"/>
                </a:solidFill>
              </a:rPr>
              <a:t>Conclusión final</a:t>
            </a:r>
          </a:p>
        </p:txBody>
      </p:sp>
      <p:sp>
        <p:nvSpPr>
          <p:cNvPr id="4" name="TextBox 3"/>
          <p:cNvSpPr txBox="1"/>
          <p:nvPr/>
        </p:nvSpPr>
        <p:spPr>
          <a:xfrm>
            <a:off x="731520" y="1371600"/>
            <a:ext cx="10972800" cy="4937760"/>
          </a:xfrm>
          <a:prstGeom prst="rect">
            <a:avLst/>
          </a:prstGeom>
          <a:noFill/>
        </p:spPr>
        <p:txBody>
          <a:bodyPr wrap="square">
            <a:spAutoFit/>
          </a:bodyPr>
          <a:lstStyle/>
          <a:p>
            <a:pPr algn="l"/>
            <a:r>
              <a:rPr sz="1400">
                <a:solidFill>
                  <a:srgbClr val="232C3A"/>
                </a:solidFill>
              </a:rPr>
              <a:t>La maqueta ya no presenta los fallos críticos de autenticación, registro IMS y cabeceras estándar en la capa SIP.</a:t>
            </a:r>
          </a:p>
          <a:p>
            <a:pPr algn="l"/>
            <a:r>
              <a:rPr sz="1400">
                <a:solidFill>
                  <a:srgbClr val="232C3A"/>
                </a:solidFill>
              </a:rPr>
              <a:t>La parte de seguridad IPsec real queda condicionada por la capacidad del entorno para operar con NET_ADMIN y configuración del kernel, no por un fallo funcional del IMS en sí.</a:t>
            </a:r>
          </a:p>
          <a:p>
            <a:pPr algn="l"/>
            <a:r>
              <a:rPr sz="1400">
                <a:solidFill>
                  <a:srgbClr val="232C3A"/>
                </a:solidFill>
              </a:rPr>
              <a:t>La red soporta AMR/AMR-WB y la lógica 3GPP cumple a nivel de señalización; la limitación real está en el cliente disponible para pruebas de voz.</a:t>
            </a:r>
          </a:p>
          <a:p>
            <a:pPr algn="l"/>
            <a:r>
              <a:rPr sz="1400">
                <a:solidFill>
                  <a:srgbClr val="232C3A"/>
                </a:solidFill>
              </a:rPr>
              <a:t>La evidencia reproducible confirma que la solución está en un estado operativo y demostrable para validación 3GPP: PASS 15/15 en pruebas E2E.</a:t>
            </a:r>
          </a:p>
          <a:p>
            <a:pPr algn="l"/>
            <a:r>
              <a:rPr sz="1400">
                <a:solidFill>
                  <a:srgbClr val="232C3A"/>
                </a:solidFill>
              </a:rPr>
              <a:t>La propuesta técnica queda sólida como base para continuidad y validación más rigurosa con clientes MTSI reales.</a:t>
            </a:r>
          </a:p>
        </p:txBody>
      </p:sp>
      <p:sp>
        <p:nvSpPr>
          <p:cNvPr id="5" name="TextBox 4"/>
          <p:cNvSpPr txBox="1"/>
          <p:nvPr/>
        </p:nvSpPr>
        <p:spPr>
          <a:xfrm>
            <a:off x="548640" y="6446520"/>
            <a:ext cx="10972800" cy="228600"/>
          </a:xfrm>
          <a:prstGeom prst="rect">
            <a:avLst/>
          </a:prstGeom>
          <a:noFill/>
        </p:spPr>
        <p:txBody>
          <a:bodyPr wrap="none">
            <a:spAutoFit/>
          </a:bodyPr>
          <a:lstStyle/>
          <a:p>
            <a:pPr algn="r"/>
            <a:r>
              <a:rPr sz="800">
                <a:solidFill>
                  <a:srgbClr val="6B7682"/>
                </a:solidFill>
              </a:rPr>
              <a:t>IMS / 3GPP compliance | HACOM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