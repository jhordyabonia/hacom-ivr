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" cy="384048"/>
          </a:xfrm>
          <a:prstGeom prst="rect">
            <a:avLst/>
          </a:prstGeom>
          <a:solidFill>
            <a:srgbClr val="16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40080"/>
            <a:ext cx="2194560" cy="640080"/>
          </a:xfrm>
          <a:prstGeom prst="rect">
            <a:avLst/>
          </a:prstGeom>
          <a:solidFill>
            <a:srgbClr val="16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FFFFFF"/>
                </a:solidFill>
              </a:rPr>
              <a:t>HACOM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3A5A"/>
                </a:solidFill>
              </a:rPr>
              <a:t>Cruce RFP uVAS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63A5A"/>
                </a:solidFill>
              </a:rPr>
              <a:t>↔ Maqueta FreeSWITCH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6400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28303A"/>
                </a:solidFill>
              </a:rPr>
              <a:t>Documento base: cruce_RFP_maqueta_FreeSWITCH.md</a:t>
            </a:r>
          </a:p>
          <a:p>
            <a:r>
              <a:rPr sz="1600">
                <a:solidFill>
                  <a:srgbClr val="28303A"/>
                </a:solidFill>
              </a:rPr>
              <a:t>Objetivo: validar qué funcionalidades del RFP están cubiertas por la maqueta actual.</a:t>
            </a:r>
          </a:p>
          <a:p>
            <a:r>
              <a:rPr sz="1600">
                <a:solidFill>
                  <a:srgbClr val="28303A"/>
                </a:solidFill>
              </a:rPr>
              <a:t>Conclusión: la plataforma cubre hoy voz (IVR/VMS) y prepara el resto de servicios del RFP con la ruta de mensajería y AS complementarios.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0" y="1188720"/>
            <a:ext cx="3383280" cy="3657600"/>
          </a:xfrm>
          <a:prstGeom prst="rect">
            <a:avLst/>
          </a:prstGeom>
          <a:solidFill>
            <a:srgbClr val="16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RFP</a:t>
            </a:r>
          </a:p>
          <a:p>
            <a:pPr algn="ctr"/>
            <a:r>
              <a:rPr sz="1600" b="0">
                <a:solidFill>
                  <a:srgbClr val="FFFFFF"/>
                </a:solidFill>
              </a:rPr>
              <a:t>uVAS 2026</a:t>
            </a:r>
          </a:p>
          <a:p>
            <a:pPr algn="ctr"/>
            <a:r>
              <a:rPr sz="1800" b="1">
                <a:solidFill>
                  <a:srgbClr val="FFFFFF"/>
                </a:solidFill>
              </a:rPr>
              <a:t>Core IMS</a:t>
            </a:r>
          </a:p>
          <a:p>
            <a:pPr algn="ctr"/>
            <a:r>
              <a:rPr sz="1600" b="0">
                <a:solidFill>
                  <a:srgbClr val="FFFFFF"/>
                </a:solidFill>
              </a:rPr>
              <a:t>Kamailio</a:t>
            </a:r>
          </a:p>
          <a:p>
            <a:pPr algn="ctr"/>
            <a:r>
              <a:rPr sz="1800" b="1">
                <a:solidFill>
                  <a:srgbClr val="FFFFFF"/>
                </a:solidFill>
              </a:rPr>
              <a:t>FreeSWITCH AS</a:t>
            </a:r>
          </a:p>
          <a:p>
            <a:pPr algn="ctr"/>
            <a:r>
              <a:rPr sz="1600" b="0">
                <a:solidFill>
                  <a:srgbClr val="FFFFFF"/>
                </a:solidFill>
              </a:rPr>
              <a:t>RTPEngine</a:t>
            </a:r>
          </a:p>
          <a:p>
            <a:pPr algn="ctr"/>
            <a:r>
              <a:rPr sz="1800" b="1">
                <a:solidFill>
                  <a:srgbClr val="FFFFFF"/>
                </a:solidFill>
              </a:rPr>
              <a:t>Operación via mims_ui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E7882"/>
                </a:solidFill>
              </a:rPr>
              <a:t>uVAS 2026 | FreeSWITCH + IMS | HACOM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" cy="384048"/>
          </a:xfrm>
          <a:prstGeom prst="rect">
            <a:avLst/>
          </a:prstGeom>
          <a:solidFill>
            <a:srgbClr val="16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63A5A"/>
                </a:solidFill>
              </a:rPr>
              <a:t>Resumen ejecutivo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6E7882"/>
                </a:solidFill>
              </a:rPr>
              <a:t>La maqueta ya valida la base funcional de voz y ofrece la plataforma para cubrir el resto del RFP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2011680" cy="164592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227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6E7882"/>
                </a:solidFill>
              </a:rPr>
              <a:t>Cobertura funcional hoy</a:t>
            </a:r>
          </a:p>
          <a:p>
            <a:r>
              <a:rPr sz="2200" b="1">
                <a:solidFill>
                  <a:srgbClr val="227A54"/>
                </a:solidFill>
              </a:rPr>
              <a:t>2/12</a:t>
            </a:r>
          </a:p>
          <a:p>
            <a:r>
              <a:rPr sz="900">
                <a:solidFill>
                  <a:srgbClr val="28303A"/>
                </a:solidFill>
              </a:rPr>
              <a:t>IVR y VMS validados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17520" y="1463040"/>
            <a:ext cx="2926080" cy="164592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207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6E7882"/>
                </a:solidFill>
              </a:rPr>
              <a:t>Cobertura nativa ampliable</a:t>
            </a:r>
          </a:p>
          <a:p>
            <a:r>
              <a:rPr sz="2200" b="1">
                <a:solidFill>
                  <a:srgbClr val="2078B4"/>
                </a:solidFill>
              </a:rPr>
              <a:t>6/12</a:t>
            </a:r>
          </a:p>
          <a:p>
            <a:r>
              <a:rPr sz="900">
                <a:solidFill>
                  <a:srgbClr val="28303A"/>
                </a:solidFill>
              </a:rPr>
              <a:t>SCE, MCA, charging, reporting, monitoring, cloud-ready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463040"/>
            <a:ext cx="2560320" cy="164592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D6A7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6E7882"/>
                </a:solidFill>
              </a:rPr>
              <a:t>Requiere AS complementario</a:t>
            </a:r>
          </a:p>
          <a:p>
            <a:r>
              <a:rPr sz="2200" b="1">
                <a:solidFill>
                  <a:srgbClr val="D6A73B"/>
                </a:solidFill>
              </a:rPr>
              <a:t>4/12</a:t>
            </a:r>
          </a:p>
          <a:p>
            <a:r>
              <a:rPr sz="900">
                <a:solidFill>
                  <a:srgbClr val="28303A"/>
                </a:solidFill>
              </a:rPr>
              <a:t>SMSC, FDA, SMSFW, USSD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35440" y="1463040"/>
            <a:ext cx="2194560" cy="164592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1A9C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6E7882"/>
                </a:solidFill>
              </a:rPr>
              <a:t>Verificación E2E</a:t>
            </a:r>
          </a:p>
          <a:p>
            <a:r>
              <a:rPr sz="2200" b="1">
                <a:solidFill>
                  <a:srgbClr val="1A9C93"/>
                </a:solidFill>
              </a:rPr>
              <a:t>15/15</a:t>
            </a:r>
          </a:p>
          <a:p>
            <a:r>
              <a:rPr sz="900">
                <a:solidFill>
                  <a:srgbClr val="28303A"/>
                </a:solidFill>
              </a:rPr>
              <a:t>pass con scripts de validación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566160"/>
            <a:ext cx="10789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28303A"/>
                </a:solidFill>
              </a:rPr>
              <a:t>El RFP solicita una plataforma uVAS convergente con SMSC, FDA, SMSFW, VMS, MCA, USSD, IVR, SCE, charging, reporting y monitoring.</a:t>
            </a:r>
          </a:p>
          <a:p>
            <a:pPr algn="l"/>
            <a:r>
              <a:rPr sz="1500">
                <a:solidFill>
                  <a:srgbClr val="28303A"/>
                </a:solidFill>
              </a:rPr>
              <a:t>La maqueta incluye Core IMS con Kamailio + PyHSS + AS Frontera + FreeSWITCH como AS aplicación + RTPEngine + mims_ui.</a:t>
            </a:r>
          </a:p>
          <a:p>
            <a:pPr algn="l"/>
            <a:r>
              <a:rPr sz="1500">
                <a:solidFill>
                  <a:srgbClr val="28303A"/>
                </a:solidFill>
              </a:rPr>
              <a:t>La conclusión adelantada es que la maqueta cubre hoy las funcionalidades de voz y prepara el resto del RFP ampliando con capacidad nativa de FreeSWITCH o AS complementarios dentro de la misma arquitectura por iFC.</a:t>
            </a:r>
          </a:p>
          <a:p>
            <a:pPr algn="l"/>
            <a:r>
              <a:rPr sz="1500">
                <a:solidFill>
                  <a:srgbClr val="28303A"/>
                </a:solidFill>
              </a:rPr>
              <a:t>La clave técnica es que ningún cambio crítico en el Core IMS es necesario: el enrutado de servicios se hace a través de iFC y AS Frontera.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E7882"/>
                </a:solidFill>
              </a:rPr>
              <a:t>uVAS 2026 | FreeSWITCH + IMS | HACOM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" cy="384048"/>
          </a:xfrm>
          <a:prstGeom prst="rect">
            <a:avLst/>
          </a:prstGeom>
          <a:solidFill>
            <a:srgbClr val="16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63A5A"/>
                </a:solidFill>
              </a:rPr>
              <a:t>1. Funcionalidades esperadas por el RFP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6E7882"/>
                </a:solidFill>
              </a:rPr>
              <a:t>Sección 1.1 Background, página 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28303A"/>
                </a:solidFill>
              </a:rPr>
              <a:t>F1 — SMSC (Short Message Service Center) | Mensajería</a:t>
            </a:r>
          </a:p>
          <a:p>
            <a:pPr algn="l"/>
            <a:r>
              <a:rPr sz="1500">
                <a:solidFill>
                  <a:srgbClr val="28303A"/>
                </a:solidFill>
              </a:rPr>
              <a:t>F2 — FDA — First Delivery Attempt | Mensajería</a:t>
            </a:r>
          </a:p>
          <a:p>
            <a:pPr algn="l"/>
            <a:r>
              <a:rPr sz="1500">
                <a:solidFill>
                  <a:srgbClr val="28303A"/>
                </a:solidFill>
              </a:rPr>
              <a:t>F3 — SMS Firewall (SMSFW) | Mensajería / Seguridad</a:t>
            </a:r>
          </a:p>
          <a:p>
            <a:pPr algn="l"/>
            <a:r>
              <a:rPr sz="1500">
                <a:solidFill>
                  <a:srgbClr val="28303A"/>
                </a:solidFill>
              </a:rPr>
              <a:t>F4 — Voice Mail System (VMS) | Voz</a:t>
            </a:r>
          </a:p>
          <a:p>
            <a:pPr algn="l"/>
            <a:r>
              <a:rPr sz="1500">
                <a:solidFill>
                  <a:srgbClr val="28303A"/>
                </a:solidFill>
              </a:rPr>
              <a:t>F5 — Missed Call Alert (MCA) | Voz / Notificación</a:t>
            </a:r>
          </a:p>
          <a:p>
            <a:pPr algn="l"/>
            <a:r>
              <a:rPr sz="1500">
                <a:solidFill>
                  <a:srgbClr val="28303A"/>
                </a:solidFill>
              </a:rPr>
              <a:t>F6 — USSD Gateway | Servicios interactivos</a:t>
            </a:r>
          </a:p>
          <a:p>
            <a:pPr algn="l"/>
            <a:r>
              <a:rPr sz="1500">
                <a:solidFill>
                  <a:srgbClr val="28303A"/>
                </a:solidFill>
              </a:rPr>
              <a:t>F7 — Interactive Voice Response (IVR) | Voz</a:t>
            </a:r>
          </a:p>
          <a:p>
            <a:pPr algn="l"/>
            <a:r>
              <a:rPr sz="1500">
                <a:solidFill>
                  <a:srgbClr val="28303A"/>
                </a:solidFill>
              </a:rPr>
              <a:t>F8 — SCE — Service Creation Environment | Desarrollo de servicios</a:t>
            </a:r>
          </a:p>
          <a:p>
            <a:pPr algn="l"/>
            <a:r>
              <a:rPr sz="1500">
                <a:solidFill>
                  <a:srgbClr val="28303A"/>
                </a:solidFill>
              </a:rPr>
              <a:t>F9 — Charging (tarificación/cobro) | Horizontal</a:t>
            </a:r>
          </a:p>
          <a:p>
            <a:pPr algn="l"/>
            <a:r>
              <a:rPr sz="1500">
                <a:solidFill>
                  <a:srgbClr val="28303A"/>
                </a:solidFill>
              </a:rPr>
              <a:t>F10 — Reporting (informes) | Horizontal</a:t>
            </a:r>
          </a:p>
          <a:p>
            <a:pPr algn="l"/>
            <a:r>
              <a:rPr sz="1500">
                <a:solidFill>
                  <a:srgbClr val="28303A"/>
                </a:solidFill>
              </a:rPr>
              <a:t>F11 — Monitoring &amp; Management | Horizontal</a:t>
            </a:r>
          </a:p>
          <a:p>
            <a:pPr algn="l"/>
            <a:r>
              <a:rPr sz="1500">
                <a:solidFill>
                  <a:srgbClr val="28303A"/>
                </a:solidFill>
              </a:rPr>
              <a:t>F12 — Convergencia / cloud-native / virtualizado / 5G-ready | Plataforma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E7882"/>
                </a:solidFill>
              </a:rPr>
              <a:t>uVAS 2026 | FreeSWITCH + IMS | HACOM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" cy="384048"/>
          </a:xfrm>
          <a:prstGeom prst="rect">
            <a:avLst/>
          </a:prstGeom>
          <a:solidFill>
            <a:srgbClr val="16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63A5A"/>
                </a:solidFill>
              </a:rPr>
              <a:t>2. La maqueta de FreeSWITCH (qué es y qué está validado)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28303A"/>
                </a:solidFill>
              </a:rPr>
              <a:t>Core IMS: Kamailio P-CSCF (:5060), I-CSCF (:4060), S-CSCF (:6060) con Cx Diameter vía PyHSS (UAR/UAA, MAR/MAA, SAR/SAA + iFC).</a:t>
            </a:r>
          </a:p>
          <a:p>
            <a:pPr algn="l"/>
            <a:r>
              <a:rPr sz="1400">
                <a:solidFill>
                  <a:srgbClr val="28303A"/>
                </a:solidFill>
              </a:rPr>
              <a:t>AS Frontera: Kamailio asfront, interworking ISC → SIP plano, destino del iFC#1.</a:t>
            </a:r>
          </a:p>
          <a:p>
            <a:pPr algn="l"/>
            <a:r>
              <a:rPr sz="1400">
                <a:solidFill>
                  <a:srgbClr val="28303A"/>
                </a:solidFill>
              </a:rPr>
              <a:t>AS aplicación: FreeSWITCH (mims3_freeswitch) con dialplan public para IVR y VMS nativos, sin Asterisk.</a:t>
            </a:r>
          </a:p>
          <a:p>
            <a:pPr algn="l"/>
            <a:r>
              <a:rPr sz="1400">
                <a:solidFill>
                  <a:srgbClr val="28303A"/>
                </a:solidFill>
              </a:rPr>
              <a:t>Plano de medios: RTPEngine anclado en el P-CSCF; autenticación Digest-AKAv1-MD5 E2E demostrada; registro IMS 401 → 200.</a:t>
            </a:r>
          </a:p>
          <a:p>
            <a:pPr algn="l"/>
            <a:r>
              <a:rPr sz="1400">
                <a:solidFill>
                  <a:srgbClr val="28303A"/>
                </a:solidFill>
              </a:rPr>
              <a:t>Orquestación: docker-compose con red 172.32.0.0/24, 14 contenedores, restart unless-stopped.</a:t>
            </a:r>
          </a:p>
          <a:p>
            <a:pPr algn="l"/>
            <a:r>
              <a:rPr sz="1400">
                <a:solidFill>
                  <a:srgbClr val="28303A"/>
                </a:solidFill>
              </a:rPr>
              <a:t>Interfaz de operación: mims_ui en http://localhost:8090 para estado, E2E, operación, logs y VMS.</a:t>
            </a:r>
          </a:p>
          <a:p>
            <a:pPr algn="l"/>
            <a:r>
              <a:rPr sz="1400">
                <a:solidFill>
                  <a:srgbClr val="28303A"/>
                </a:solidFill>
              </a:rPr>
              <a:t>Verificación: scripts/test_maqueta.sh → PASS 15 / FAIL 0 (registro, iFC, IVR, RTPEngine, VMS).</a:t>
            </a:r>
          </a:p>
          <a:p>
            <a:pPr algn="l"/>
            <a:r>
              <a:rPr sz="1400">
                <a:solidFill>
                  <a:srgbClr val="28303A"/>
                </a:solidFill>
              </a:rPr>
              <a:t>Evidencia VMS: freeswitch/vms/0100003/INBOX/msg_*.wav; evidencia IVR: playback de ivr_bienvenida.wav a 0100002; evidencia AKA: 401 con algorithm=AKAv1-MD5 sin ck/ik → 200 OK.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E7882"/>
                </a:solidFill>
              </a:rPr>
              <a:t>uVAS 2026 | FreeSWITCH + IMS | HACOM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" cy="384048"/>
          </a:xfrm>
          <a:prstGeom prst="rect">
            <a:avLst/>
          </a:prstGeom>
          <a:solidFill>
            <a:srgbClr val="16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63A5A"/>
                </a:solidFill>
              </a:rPr>
              <a:t>3. Matriz de cruce RFP ↔ maqueta FreeSWITCH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6E7882"/>
                </a:solidFill>
              </a:rPr>
              <a:t>Estado: ✅ Implementado • 🟡 Ampliable-nativo • 🟠 Complemento-AS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28303A"/>
                </a:solidFill>
              </a:rPr>
              <a:t>F7 IVR | ✅ Implementado | mod_dptools + mod_say_* + mod_lua + mod_httapi + mod_xml_curl | Evidencia: public.xml =&gt; ivr_0100002</a:t>
            </a:r>
          </a:p>
          <a:p>
            <a:pPr algn="l"/>
            <a:r>
              <a:rPr sz="1200">
                <a:solidFill>
                  <a:srgbClr val="28303A"/>
                </a:solidFill>
              </a:rPr>
              <a:t>F4 VMS | ✅ Implementado | mod_voicemail + record + persistencia en storage/vms | Evidencia: msg_*.wav en freeswitch/vms/0100003</a:t>
            </a:r>
          </a:p>
          <a:p>
            <a:pPr algn="l"/>
            <a:r>
              <a:rPr sz="1200">
                <a:solidFill>
                  <a:srgbClr val="28303A"/>
                </a:solidFill>
              </a:rPr>
              <a:t>F8 SCE | 🟡 Ampliable-nativo | Lua, httapi, xml_curl, flujos JSON por país | Módulos cargados: mod_lua, mod_httapi</a:t>
            </a:r>
          </a:p>
          <a:p>
            <a:pPr algn="l"/>
            <a:r>
              <a:rPr sz="1200">
                <a:solidFill>
                  <a:srgbClr val="28303A"/>
                </a:solidFill>
              </a:rPr>
              <a:t>F5 MCA | 🟡 Ampliable-nativo | CDR + no-answer/busy detection + SMS/MB/MWI | mod_cdr_csv + mod_event_socket + mod_sms</a:t>
            </a:r>
          </a:p>
          <a:p>
            <a:pPr algn="l"/>
            <a:r>
              <a:rPr sz="1200">
                <a:solidFill>
                  <a:srgbClr val="28303A"/>
                </a:solidFill>
              </a:rPr>
              <a:t>F1 SMSC | 🟠 Complemento-AS | mensaje MESSAGE por iFC + AS SMS o mod_sms | mismo patrón ISC validado para INVITE</a:t>
            </a:r>
          </a:p>
          <a:p>
            <a:pPr algn="l"/>
            <a:r>
              <a:rPr sz="1200">
                <a:solidFill>
                  <a:srgbClr val="28303A"/>
                </a:solidFill>
              </a:rPr>
              <a:t>F2 FDA | 🟠 Complemento-AS | cola persistida y reintento diferido | redis/MySQL en la maqueta</a:t>
            </a:r>
          </a:p>
          <a:p>
            <a:pPr algn="l"/>
            <a:r>
              <a:rPr sz="1200">
                <a:solidFill>
                  <a:srgbClr val="28303A"/>
                </a:solidFill>
              </a:rPr>
              <a:t>F3 SMS Firewall | 🟠 Complemento-AS | MO/MT filters, rate limit, blacklist, scoring | AS smsfw interpuesto en la cadena</a:t>
            </a:r>
          </a:p>
          <a:p>
            <a:pPr algn="l"/>
            <a:r>
              <a:rPr sz="1200">
                <a:solidFill>
                  <a:srgbClr val="28303A"/>
                </a:solidFill>
              </a:rPr>
              <a:t>F6 USSD Gateway | 🟠 Complemento-AS | menú por etapas sobre SIP MESSAGE | motor IVR/SCE reutilizado</a:t>
            </a:r>
          </a:p>
          <a:p>
            <a:pPr algn="l"/>
            <a:r>
              <a:rPr sz="1200">
                <a:solidFill>
                  <a:srgbClr val="28303A"/>
                </a:solidFill>
              </a:rPr>
              <a:t>F9 Charging | 🟡 Ampliable | mod_cdr_csv, mod_xml_cdr, mod_json_cdr | API de ingesta a BD/CDR</a:t>
            </a:r>
          </a:p>
          <a:p>
            <a:pPr algn="l"/>
            <a:r>
              <a:rPr sz="1200">
                <a:solidFill>
                  <a:srgbClr val="28303A"/>
                </a:solidFill>
              </a:rPr>
              <a:t>F10 Reporting | 🟡 Ampliable | mims_ui consultando CDR/MySQL + mod_db | interfaz 8090</a:t>
            </a:r>
          </a:p>
          <a:p>
            <a:pPr algn="l"/>
            <a:r>
              <a:rPr sz="1200">
                <a:solidFill>
                  <a:srgbClr val="28303A"/>
                </a:solidFill>
              </a:rPr>
              <a:t>F11 Monitor &amp; Management | 🟡 Ampliable | mod_event_socket + mims_ui + healthchecks | docker compose / docker ps</a:t>
            </a:r>
          </a:p>
          <a:p>
            <a:pPr algn="l"/>
            <a:r>
              <a:rPr sz="1200">
                <a:solidFill>
                  <a:srgbClr val="28303A"/>
                </a:solidFill>
              </a:rPr>
              <a:t>F12 Convergencia 5G-ready | 🟡 Ampliable | contenerización + 14 servicios + camino a K8s/Helm | arquitectura preparada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E7882"/>
                </a:solidFill>
              </a:rPr>
              <a:t>uVAS 2026 | FreeSWITCH + IMS | HACOM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" cy="384048"/>
          </a:xfrm>
          <a:prstGeom prst="rect">
            <a:avLst/>
          </a:prstGeom>
          <a:solidFill>
            <a:srgbClr val="16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63A5A"/>
                </a:solidFill>
              </a:rPr>
              <a:t>4. Detalle por funcionalidad: IVR y VMS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5303520" cy="201168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207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500">
                <a:solidFill>
                  <a:srgbClr val="163A5A"/>
                </a:solidFill>
              </a:rPr>
              <a:t>F7 — IVR ✅</a:t>
            </a:r>
          </a:p>
          <a:p>
            <a:r>
              <a:rPr sz="1100">
                <a:solidFill>
                  <a:srgbClr val="28303A"/>
                </a:solidFill>
              </a:rPr>
              <a:t>public.xml: ivr_0100002 → answer → sleep → playback(ivr_bienvenida.wav) → hangup. El menú DTMF se construye con mod_dptools, mod_lua/mod_httapi consultando MySQL y mod_say_* para lectura del saldo o número. RTP anclado en RTPEngine.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657600"/>
            <a:ext cx="5303520" cy="228600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207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500">
                <a:solidFill>
                  <a:srgbClr val="163A5A"/>
                </a:solidFill>
              </a:rPr>
              <a:t>F4 — VMS ✅</a:t>
            </a:r>
          </a:p>
          <a:p>
            <a:r>
              <a:rPr sz="1100">
                <a:solidFill>
                  <a:srgbClr val="28303A"/>
                </a:solidFill>
              </a:rPr>
              <a:t>public.xml: vms_0100003 → graba el mensaje RTP del llamante a vms/&lt;MSISDN&gt;/INBOX/msg_&lt;fecha&gt;.wav. mod_voicemail cargado da buzón completo, greeting y MWI/message-summary. Volumen persistente ./freeswitch/vms.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6459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28303A"/>
                </a:solidFill>
              </a:rPr>
              <a:t>La ruta del flujo es UE → P-CSCF → S-CSCF → iFC → AS Frontera → FreeSWITCH.</a:t>
            </a:r>
          </a:p>
          <a:p>
            <a:pPr algn="l"/>
            <a:r>
              <a:rPr sz="1400">
                <a:solidFill>
                  <a:srgbClr val="28303A"/>
                </a:solidFill>
              </a:rPr>
              <a:t>Se valida la parte de voz con RTPEngine y la autenticación AKAv1-MD5 E2E.</a:t>
            </a:r>
          </a:p>
          <a:p>
            <a:pPr algn="l"/>
            <a:r>
              <a:rPr sz="1400">
                <a:solidFill>
                  <a:srgbClr val="28303A"/>
                </a:solidFill>
              </a:rPr>
              <a:t>Cobertura TS 26.114: mod_amr/mod_amrwb cargados; el softphone actual no ofrece AMR, pero no es limitación de la maqueta.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E7882"/>
                </a:solidFill>
              </a:rPr>
              <a:t>uVAS 2026 | FreeSWITCH + IMS | HACOM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" cy="384048"/>
          </a:xfrm>
          <a:prstGeom prst="rect">
            <a:avLst/>
          </a:prstGeom>
          <a:solidFill>
            <a:srgbClr val="16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63A5A"/>
                </a:solidFill>
              </a:rPr>
              <a:t>5. Dominio de mensajería y servicios interactivos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28303A"/>
                </a:solidFill>
              </a:rPr>
              <a:t>F5 — MCA 🟡: FreeSWITCH genera CDR con mod_cdr_csv; detecta disposition=no answer / busy. El aviso se materializa por SMS con mod_sms o por MB/MWI vía S-CSCF.</a:t>
            </a:r>
          </a:p>
          <a:p>
            <a:pPr algn="l"/>
            <a:r>
              <a:rPr sz="1400">
                <a:solidFill>
                  <a:srgbClr val="28303A"/>
                </a:solidFill>
              </a:rPr>
              <a:t>F1 — SMSC 🟠: el mismo mecanismo ISC que enruta INVITE puede enrutar MESSAGE por iFC con Method=MESSAGE y prioridad propia en maqueta_ifc.xml. El AS SMS normaliza, persiste y entrega; stubs SMPP para integrar el SMSC real del operador.</a:t>
            </a:r>
          </a:p>
          <a:p>
            <a:pPr algn="l"/>
            <a:r>
              <a:rPr sz="1400">
                <a:solidFill>
                  <a:srgbClr val="28303A"/>
                </a:solidFill>
              </a:rPr>
              <a:t>F2 — FDA 🟠: entrega inmediata si el destino está registrado; diferida si no lo está, reintenta con el siguiente REGISTER. Estados delivered/undelivered/deleted en BD.</a:t>
            </a:r>
          </a:p>
          <a:p>
            <a:pPr algn="l"/>
            <a:r>
              <a:rPr sz="1400">
                <a:solidFill>
                  <a:srgbClr val="28303A"/>
                </a:solidFill>
              </a:rPr>
              <a:t>F3 — SMS Firewall 🟠: interpuesto en la cadena del SMSC; filtros MO/MT por número, contenido, blacklist, rate-limit y scoring. Rechazo o reescritura antes de entregar.</a:t>
            </a:r>
          </a:p>
          <a:p>
            <a:pPr algn="l"/>
            <a:r>
              <a:rPr sz="1400">
                <a:solidFill>
                  <a:srgbClr val="28303A"/>
                </a:solidFill>
              </a:rPr>
              <a:t>F6 — USSD Gateway 🟠: reutiliza el motor de menú del IVR sobre SIP MESSAGE con persistencia de sesión (redis/MySQL). El enlace real al USSDC SIGTRAN/MAP queda como integración de propuesta.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E7882"/>
                </a:solidFill>
              </a:rPr>
              <a:t>uVAS 2026 | FreeSWITCH + IMS | HACOM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" cy="384048"/>
          </a:xfrm>
          <a:prstGeom prst="rect">
            <a:avLst/>
          </a:prstGeom>
          <a:solidFill>
            <a:srgbClr val="16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63A5A"/>
                </a:solidFill>
              </a:rPr>
              <a:t>6. Capacidad nativa de FreeSWITCH y control del servicio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28303A"/>
                </a:solidFill>
              </a:rPr>
              <a:t>F8 — SCE 🟡: FreeSWITCH ofrece motor nativo con mod_lua, mod_httapi, mod_xml_curl y flujos JSON/YAML/Lua; servicios desplegables sin redeploy del Core IMS y sin tocar la lógica del S-CSCF.</a:t>
            </a:r>
          </a:p>
          <a:p>
            <a:pPr algn="l"/>
            <a:r>
              <a:rPr sz="1400">
                <a:solidFill>
                  <a:srgbClr val="28303A"/>
                </a:solidFill>
              </a:rPr>
              <a:t>F9 — Charging 🟡: mod_cdr_csv cargado; mod_xml_cdr/mod_json_cdr en disco permiten emitir CDR a la API de facturación. Persistencia en MySQL. Ro/Rf como fases posteriores.</a:t>
            </a:r>
          </a:p>
          <a:p>
            <a:pPr algn="l"/>
            <a:r>
              <a:rPr sz="1400">
                <a:solidFill>
                  <a:srgbClr val="28303A"/>
                </a:solidFill>
              </a:rPr>
              <a:t>F10 — Reporting 🟡: mims_ui (puerto 8090) ya consulta estado de servicio, CDR y MySQL. El entorno soporta tablas por rellenar con CDR del AS.</a:t>
            </a:r>
          </a:p>
          <a:p>
            <a:pPr algn="l"/>
            <a:r>
              <a:rPr sz="1400">
                <a:solidFill>
                  <a:srgbClr val="28303A"/>
                </a:solidFill>
              </a:rPr>
              <a:t>F11 — Monitoring &amp; Management 🟡: mod_event_socket expone eventos y estadísticas; mims_ui supervisa contenedores, DNS, listeners, E2E, operación y VMS. Healthchecks por compose.</a:t>
            </a:r>
          </a:p>
          <a:p>
            <a:pPr algn="l"/>
            <a:r>
              <a:rPr sz="1400">
                <a:solidFill>
                  <a:srgbClr val="28303A"/>
                </a:solidFill>
              </a:rPr>
              <a:t>F12 — Convergencia / cloud-native / 5G-ready 🟡: todo está contenerizado por servicio, con red parametrizada, 14 contenedores y capacidad de escalar vía Docker/Kubernetes y fases de SBA/NEF.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E7882"/>
                </a:solidFill>
              </a:rPr>
              <a:t>uVAS 2026 | FreeSWITCH + IMS | HACOM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" cy="384048"/>
          </a:xfrm>
          <a:prstGeom prst="rect">
            <a:avLst/>
          </a:prstGeom>
          <a:solidFill>
            <a:srgbClr val="16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63A5A"/>
                </a:solidFill>
              </a:rPr>
              <a:t>7. Módulos FreeSWITCH de la maqueta (verificado en el contenedor)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28303A"/>
                </a:solidFill>
              </a:rPr>
              <a:t>Cargados: mod_sofia, mod_dptools, mod_voicemail, mod_amr, mod_amrwb, mod_opus, mod_cdr_csv, mod_conference, mod_fifo, mod_lua, mod_httapi, mod_loopback, mod_event_socket, mod_dialplan_xml, mod_say_*, mod_local_stream, mod_sndfile, mod_tone_stream, mod_spandsp.</a:t>
            </a:r>
          </a:p>
          <a:p>
            <a:pPr algn="l"/>
            <a:r>
              <a:rPr sz="1400">
                <a:solidFill>
                  <a:srgbClr val="28303A"/>
                </a:solidFill>
              </a:rPr>
              <a:t>En disco / habilitables: mod_sms.so, mod_xml_curl.so, mod_json_cdr.so, mod_cdr_mongodb.so, mod_java.so, mod_perl.so y otros módulos de integración.</a:t>
            </a:r>
          </a:p>
          <a:p>
            <a:pPr algn="l"/>
            <a:r>
              <a:rPr sz="1400">
                <a:solidFill>
                  <a:srgbClr val="28303A"/>
                </a:solidFill>
              </a:rPr>
              <a:t>Nota crucial del diseño: no existe mod_smpp.so obligado para el patrón de mensajería; el tránsito SIP MESSAGE → FreeSWITCH/mod_sms o AS python cubre la misma función sin depender de ese módulo.</a:t>
            </a:r>
          </a:p>
          <a:p>
            <a:pPr algn="l"/>
            <a:r>
              <a:rPr sz="1400">
                <a:solidFill>
                  <a:srgbClr val="28303A"/>
                </a:solidFill>
              </a:rPr>
              <a:t>El patrón por iFC se mantiene constante para voz y mensajería, lo cual reduce la superficie de cambio del Core IMS y acelera el desarrollo.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E7882"/>
                </a:solidFill>
              </a:rPr>
              <a:t>uVAS 2026 | FreeSWITCH + IMS | HACOM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" cy="384048"/>
          </a:xfrm>
          <a:prstGeom prst="rect">
            <a:avLst/>
          </a:prstGeom>
          <a:solidFill>
            <a:srgbClr val="16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63A5A"/>
                </a:solidFill>
              </a:rPr>
              <a:t>8. Conclusión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28303A"/>
                </a:solidFill>
              </a:rPr>
              <a:t>1. Voz del AS — cumplido hoy: IVR y VMS funcionando y validados E2E; el flujo está enrutado por iFC del S-CSCF hacia FreeSWITCH y con medios anclados en RTPEngine.</a:t>
            </a:r>
          </a:p>
          <a:p>
            <a:pPr algn="l"/>
            <a:r>
              <a:rPr sz="1400">
                <a:solidFill>
                  <a:srgbClr val="28303A"/>
                </a:solidFill>
              </a:rPr>
              <a:t>2. Plataforma convergente — la maqueta es la base para el resto de funcionalidades del RFP sin cambiar el Core IMS: SCE, MCA, charging, reporting y monitoring se apoyan en módulos y servicios nativos de FreeSWITCH.</a:t>
            </a:r>
          </a:p>
          <a:p>
            <a:pPr algn="l"/>
            <a:r>
              <a:rPr sz="1400">
                <a:solidFill>
                  <a:srgbClr val="28303A"/>
                </a:solidFill>
              </a:rPr>
              <a:t>3. Dominio de mensajería — SMSC, FDA, SMSFW y USSD se resuelven sobre el mismo patrón iFC validado (MESSAGE) junto con un AS de mensajería dentro de la misma maqueta.</a:t>
            </a:r>
          </a:p>
          <a:p>
            <a:pPr algn="l"/>
            <a:r>
              <a:rPr sz="1400">
                <a:solidFill>
                  <a:srgbClr val="28303A"/>
                </a:solidFill>
              </a:rPr>
              <a:t>4. Ventaja competitiva — un solo plano VAS para voz y servicios, una ruta de entrega más corta y una base técnica sólida para la propuesta del operador.</a:t>
            </a:r>
          </a:p>
          <a:p>
            <a:pPr algn="l"/>
            <a:r>
              <a:rPr sz="1400">
                <a:solidFill>
                  <a:srgbClr val="28303A"/>
                </a:solidFill>
              </a:rPr>
              <a:t>5. La evidencia demuestra que la maqueta hoy no sólo es un prototipo; es una base operativa para llegar a una propuesta uVAS realista, convergente y 5G-ready.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E7882"/>
                </a:solidFill>
              </a:rPr>
              <a:t>uVAS 2026 | FreeSWITCH + IMS | HACOM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" cy="384048"/>
          </a:xfrm>
          <a:prstGeom prst="rect">
            <a:avLst/>
          </a:prstGeom>
          <a:solidFill>
            <a:srgbClr val="16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63A5A"/>
                </a:solidFill>
              </a:rPr>
              <a:t>9. Referencias y evidencia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28303A"/>
                </a:solidFill>
              </a:rPr>
              <a:t>RFP: doc/20260817 uVAS RFP 2026.md — funcionalidades en §1.1, página 24.</a:t>
            </a:r>
          </a:p>
          <a:p>
            <a:pPr algn="l"/>
            <a:r>
              <a:rPr sz="1400">
                <a:solidFill>
                  <a:srgbClr val="28303A"/>
                </a:solidFill>
              </a:rPr>
              <a:t>Plan de etapas: results/plan_trabajo_uVAS_2026.md — etapas 1 a 6; F1-F4 en etapa 2, USSD en etapa 3, SCE/charging en etapas 1/4/5.</a:t>
            </a:r>
          </a:p>
          <a:p>
            <a:pPr algn="l"/>
            <a:r>
              <a:rPr sz="1400">
                <a:solidFill>
                  <a:srgbClr val="28303A"/>
                </a:solidFill>
              </a:rPr>
              <a:t>Comparativa AS: results/argumentacion_AS_kamailio_vs_freeswitch.md.</a:t>
            </a:r>
          </a:p>
          <a:p>
            <a:pPr algn="l"/>
            <a:r>
              <a:rPr sz="1400">
                <a:solidFill>
                  <a:srgbClr val="28303A"/>
                </a:solidFill>
              </a:rPr>
              <a:t>Cumplimiento 3GPP: results/diagnostico_cumplimiento_3gpp.md.</a:t>
            </a:r>
          </a:p>
          <a:p>
            <a:pPr algn="l"/>
            <a:r>
              <a:rPr sz="1400">
                <a:solidFill>
                  <a:srgbClr val="28303A"/>
                </a:solidFill>
              </a:rPr>
              <a:t>E2E: maqueta-ims-3/scripts/test_maqueta.sh — PASS 15/15.</a:t>
            </a:r>
          </a:p>
          <a:p>
            <a:pPr algn="l"/>
            <a:r>
              <a:rPr sz="1400">
                <a:solidFill>
                  <a:srgbClr val="28303A"/>
                </a:solidFill>
              </a:rPr>
              <a:t>AKA: maqueta-ims-3/scripts/ue_aka_probe.py — Digest-AKAv1-MD5 → 200 OK.</a:t>
            </a:r>
          </a:p>
          <a:p>
            <a:pPr algn="l"/>
            <a:r>
              <a:rPr sz="1400">
                <a:solidFill>
                  <a:srgbClr val="28303A"/>
                </a:solidFill>
              </a:rPr>
              <a:t>AS Frontera ISC: maqueta-ims-3/asfront/{asfront.cfg,kamailio_asfront.cfg}.</a:t>
            </a:r>
          </a:p>
          <a:p>
            <a:pPr algn="l"/>
            <a:r>
              <a:rPr sz="1400">
                <a:solidFill>
                  <a:srgbClr val="28303A"/>
                </a:solidFill>
              </a:rPr>
              <a:t>FreeSWITCH AS: maqueta-ims-3/freeswitch/conf/{dialplan/public.xml, sip_profiles/external.xml}.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E7882"/>
                </a:solidFill>
              </a:rPr>
              <a:t>uVAS 2026 | FreeSWITCH + IMS | HACOM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