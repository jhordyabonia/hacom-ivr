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men" id="{896a9e97-ad1d-d18d-7998-277d0469ea13}">
          <p14:sldIdLst>
            <p14:sldId id="256"/>
            <p14:sldId id="257"/>
          </p14:sldIdLst>
        </p14:section>
        <p14:section name="Lo construido" id="{35e41d7c-0102-689b-eb6d-3972be922d3e}">
          <p14:sldIdLst>
            <p14:sldId id="258"/>
            <p14:sldId id="259"/>
            <p14:sldId id="260"/>
            <p14:sldId id="261"/>
          </p14:sldIdLst>
        </p14:section>
        <p14:section name="PMV y cronograma" id="{e38d176a-e39c-0203-1082-047d5812ffec}">
          <p14:sldIdLst>
            <p14:sldId id="262"/>
            <p14:sldId id="263"/>
          </p14:sldIdLst>
        </p14:section>
        <p14:section name="Paso a paso DEV" id="{af7fe1f8-6b4d-fb33-b349-9bd82334c408}">
          <p14:sldIdLst>
            <p14:sldId id="264"/>
            <p14:sldId id="265"/>
          </p14:sldIdLst>
        </p14:section>
        <p14:section name="Cierre" id="{646771f9-bb72-7845-6fe7-2aff209d0be0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4A5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4A55"/>
                </a:solidFill>
                <a:latin typeface="+mn-lt"/>
              </a:rPr>
              <a:t>Cumplimiento por iteración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Reglas 3GPP (%)</c:v>
                </c:pt>
              </c:strCache>
            </c:strRef>
          </c:tx>
          <c:spPr>
            <a:solidFill>
              <a:srgbClr val="0F7C8A"/>
            </a:solidFill>
            <a:ln w="31750" cap="flat">
              <a:solidFill>
                <a:srgbClr val="0F7C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F7C8A"/>
              </a:solidFill>
              <a:ln w="9525" cap="flat">
                <a:solidFill>
                  <a:srgbClr val="0F7C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18.5</c:v>
                </c:pt>
                <c:pt idx="1">
                  <c:v>55.6</c:v>
                </c:pt>
                <c:pt idx="2">
                  <c:v>70.4</c:v>
                </c:pt>
                <c:pt idx="3">
                  <c:v>88.9</c:v>
                </c:pt>
                <c:pt idx="4">
                  <c:v>88.9</c:v>
                </c:pt>
                <c:pt idx="5">
                  <c:v>88.9</c:v>
                </c:pt>
                <c:pt idx="6">
                  <c:v>92.6</c:v>
                </c:pt>
                <c:pt idx="7">
                  <c:v>92.6</c:v>
                </c:pt>
                <c:pt idx="8">
                  <c:v>92.6</c:v>
                </c:pt>
                <c:pt idx="9">
                  <c:v>92.6</c:v>
                </c:pt>
                <c:pt idx="10">
                  <c:v>70.4</c:v>
                </c:pt>
                <c:pt idx="11">
                  <c:v>88.9</c:v>
                </c:pt>
                <c:pt idx="12">
                  <c:v>92.6</c:v>
                </c:pt>
                <c:pt idx="13">
                  <c:v>96.3</c:v>
                </c:pt>
                <c:pt idx="14">
                  <c:v>92.6</c:v>
                </c:pt>
                <c:pt idx="15">
                  <c:v>96.3</c:v>
                </c:pt>
                <c:pt idx="16">
                  <c:v>92.6</c:v>
                </c:pt>
                <c:pt idx="17">
                  <c:v>92.6</c:v>
                </c:pt>
                <c:pt idx="18">
                  <c:v>92.6</c:v>
                </c:pt>
                <c:pt idx="19">
                  <c:v>92.6</c:v>
                </c:pt>
                <c:pt idx="20">
                  <c:v>96.3</c:v>
                </c:pt>
                <c:pt idx="21">
                  <c:v>96.3</c:v>
                </c:pt>
                <c:pt idx="22">
                  <c:v>96.3</c:v>
                </c:pt>
                <c:pt idx="23">
                  <c:v>77.8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92.6</c:v>
                </c:pt>
                <c:pt idx="28">
                  <c:v>100</c:v>
                </c:pt>
                <c:pt idx="29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Checks E2E (%)</c:v>
                </c:pt>
              </c:strCache>
            </c:strRef>
          </c:tx>
          <c:spPr>
            <a:solidFill>
              <a:srgbClr val="F0A030"/>
            </a:solidFill>
            <a:ln w="31750" cap="flat">
              <a:solidFill>
                <a:srgbClr val="F0A0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0A030"/>
              </a:solidFill>
              <a:ln w="9525" cap="flat">
                <a:solidFill>
                  <a:srgbClr val="F0A0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80</c:v>
                </c:pt>
                <c:pt idx="1">
                  <c:v>36.4</c:v>
                </c:pt>
                <c:pt idx="2">
                  <c:v>40.9</c:v>
                </c:pt>
                <c:pt idx="3">
                  <c:v>72.7</c:v>
                </c:pt>
                <c:pt idx="4">
                  <c:v>45.5</c:v>
                </c:pt>
                <c:pt idx="5">
                  <c:v>77.3</c:v>
                </c:pt>
                <c:pt idx="6">
                  <c:v>77.3</c:v>
                </c:pt>
                <c:pt idx="7">
                  <c:v>77.3</c:v>
                </c:pt>
                <c:pt idx="8">
                  <c:v>77.3</c:v>
                </c:pt>
                <c:pt idx="9">
                  <c:v>77.3</c:v>
                </c:pt>
                <c:pt idx="10">
                  <c:v>36.4</c:v>
                </c:pt>
                <c:pt idx="11">
                  <c:v>77.3</c:v>
                </c:pt>
                <c:pt idx="12">
                  <c:v>68.2</c:v>
                </c:pt>
                <c:pt idx="13">
                  <c:v>77.3</c:v>
                </c:pt>
                <c:pt idx="14">
                  <c:v>86.4</c:v>
                </c:pt>
                <c:pt idx="15">
                  <c:v>90.9</c:v>
                </c:pt>
                <c:pt idx="16">
                  <c:v>86.4</c:v>
                </c:pt>
                <c:pt idx="17">
                  <c:v>81.8</c:v>
                </c:pt>
                <c:pt idx="18">
                  <c:v>90.9</c:v>
                </c:pt>
                <c:pt idx="19">
                  <c:v>90.9</c:v>
                </c:pt>
                <c:pt idx="20">
                  <c:v>95.5</c:v>
                </c:pt>
                <c:pt idx="21">
                  <c:v>95.5</c:v>
                </c:pt>
                <c:pt idx="22">
                  <c:v>95.5</c:v>
                </c:pt>
                <c:pt idx="23">
                  <c:v>40.9</c:v>
                </c:pt>
                <c:pt idx="24">
                  <c:v>95.5</c:v>
                </c:pt>
                <c:pt idx="25">
                  <c:v>95.5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E3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avance: FEAT-02 terminado, cumplimiento 3GPP verificado sobre capturas, y plan para el ambiente DEV compartido.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27 reglas citan TS 24.229, TS 33.203, TS 24.606, TS 26.114 y RFC 3261/3329. 100 % es sobre ese conjunto explícito.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caídas (iteraciones 10 y 23) son regresiones de prueba: reconstrucción de Kamailio con SA residuales y un intento de enviar el REGISTER inicial desde port_uc, que se revirtió.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Estimación por descomposición de tareas en días hábiles; las fechas se recalculan si cambia la fecha de entrega de la VM, que es la dependencia externa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de comandos en README.md del repositorio y en entregables-feat-02/README.md.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Maqueta IMS uVAS · FEAT-02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Maqueta IMS uVAS: VMS completo y señalización 3GPP al 100 %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Avance FEAT-02, PMV de voz y despliegue en el ambiente DEV de tres servidores · actualizado 14-oct-2026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maqueta pasa de 5 a 27 reglas 3GPP verificadas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27/27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reglas 3GPP en la captura local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DEV (Swarm): 27/28, solo falta G3 (MTU)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474720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16916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22/22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checks E2E del contrato, también en DEV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UI web de DEV: 14/14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474720" cy="2926080"/>
          </a:xfrm>
          <a:prstGeom prst="roundRect">
            <a:avLst>
              <a:gd name="adj" fmla="val 46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16916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paquetes ESP con integridad verificada en DEV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657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IMS-AKA + IPsec en Gm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Local: 29 iteraciones de captura (tcpdump → tshark -Y sip → check_3gpp.py). DEV: 11 correcciones de despliegue y 2 iteraciones de captura sobre los 3 nodos.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Cada servicio es un AS tras una iFC; el Core no cambia</a:t>
            </a:r>
            <a:endParaRPr lang="en-US" sz="3000" dirty="0"/>
          </a:p>
        </p:txBody>
      </p:sp>
      <p:sp>
        <p:nvSpPr>
          <p:cNvPr id="3" name="nodo-UE IMS"/>
          <p:cNvSpPr/>
          <p:nvPr/>
        </p:nvSpPr>
        <p:spPr>
          <a:xfrm>
            <a:off x="457200" y="1828800"/>
            <a:ext cx="1645920" cy="173736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UE IMS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pjsua + IMS-AKA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IPsec ESP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21408" y="2560320"/>
            <a:ext cx="237744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nodo-P-CSCF"/>
          <p:cNvSpPr/>
          <p:nvPr/>
        </p:nvSpPr>
        <p:spPr>
          <a:xfrm>
            <a:off x="2377440" y="1828800"/>
            <a:ext cx="1645920" cy="173736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P-CSCF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4688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sec-agree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SA ESP · PAI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41648" y="2560320"/>
            <a:ext cx="237744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nodo-I-CSCF"/>
          <p:cNvSpPr/>
          <p:nvPr/>
        </p:nvSpPr>
        <p:spPr>
          <a:xfrm>
            <a:off x="4297680" y="1828800"/>
            <a:ext cx="1645920" cy="173736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I-CSCF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4688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UAR / LIR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61888" y="2560320"/>
            <a:ext cx="237744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nodo-S-CSCF"/>
          <p:cNvSpPr/>
          <p:nvPr/>
        </p:nvSpPr>
        <p:spPr>
          <a:xfrm>
            <a:off x="6217920" y="1828800"/>
            <a:ext cx="1645920" cy="173736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S-CSCF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4688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MAR/SAR · iFC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P10 · P30 · P40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82128" y="2560320"/>
            <a:ext cx="237744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odo-AS-Front"/>
          <p:cNvSpPr/>
          <p:nvPr/>
        </p:nvSpPr>
        <p:spPr>
          <a:xfrm>
            <a:off x="8138160" y="1828800"/>
            <a:ext cx="1645920" cy="1737360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AS-Front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24688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ISC → SIP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802368" y="2560320"/>
            <a:ext cx="237744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nodo-FreeSWITCH"/>
          <p:cNvSpPr/>
          <p:nvPr/>
        </p:nvSpPr>
        <p:spPr>
          <a:xfrm>
            <a:off x="10058400" y="1828800"/>
            <a:ext cx="1645920" cy="1737360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FreeSWITCH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0149840" y="24688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IVR · VMS · MWI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023360"/>
            <a:ext cx="16459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40233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PyHSS (Cx)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perfiles + vectores AKA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Gm (UE – P-CSCF):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toda la señalización dentro de ESP tras el registro.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ISC: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IVR 0100002, buzón 0100003/0100004, MWI y depósito por no registrado.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Autenticación y seguridad: de simulada a real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663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Digest MD5 (fallback)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IMS-AKA obligatorio (AKAv1-MD5)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pjsua sin AKA real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K/OPc/AMF, IMPI desde el 1er REGISTER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sec-agree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Security-Server de eco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ims_ipsec_pcscf con SPI/puertos propios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en claro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IPsec ESP (hmac-sha-1-96), SA renovadas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Hacia el core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Security-* y sec-agree filtrados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Retirados; integrity-protected yes/no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Evidencia: la respuesta AKA (RES), el AUTN (MAC-A) y el ICV de cada paquete ESP se recalculan con Milenage a partir de la captura.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FEAT-02: depositar, avisar y recuperar el mensaje</a:t>
            </a:r>
            <a:endParaRPr lang="en-US" sz="3000" dirty="0"/>
          </a:p>
        </p:txBody>
      </p:sp>
      <p:sp>
        <p:nvSpPr>
          <p:cNvPr id="3" name="card-Depósito"/>
          <p:cNvSpPr/>
          <p:nvPr/>
        </p:nvSpPr>
        <p:spPr>
          <a:xfrm>
            <a:off x="548640" y="1371600"/>
            <a:ext cx="35661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Depósito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UE1 llama a UE2 no registrado. El S-CSCF pide el perfil (SAR unregistered) y la iFC P40 lo desvía al AS: mod_voicemail graba en el buzón del MSISDN.</a:t>
            </a:r>
            <a:endParaRPr lang="en-US" sz="1400" dirty="0"/>
          </a:p>
        </p:txBody>
      </p:sp>
      <p:sp>
        <p:nvSpPr>
          <p:cNvPr id="8" name="card-MWI"/>
          <p:cNvSpPr/>
          <p:nvPr/>
        </p:nvSpPr>
        <p:spPr>
          <a:xfrm>
            <a:off x="4297680" y="1371600"/>
            <a:ext cx="35661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MWI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402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UE2 se suscribe a message-summary (iFC P10). El AS notifica en el diálogo: Messages-Waiting yes tras depositar y no tras borrar (TS 24.606).</a:t>
            </a:r>
            <a:endParaRPr lang="en-US" sz="1400" dirty="0"/>
          </a:p>
        </p:txBody>
      </p:sp>
      <p:sp>
        <p:nvSpPr>
          <p:cNvPr id="13" name="card-Recuperación"/>
          <p:cNvSpPr/>
          <p:nvPr/>
        </p:nvSpPr>
        <p:spPr>
          <a:xfrm>
            <a:off x="8046720" y="1371600"/>
            <a:ext cx="35661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Recuperación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2402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UE2 llama al 0100004, marca el PIN (DTMF), escucha con 1 y borra con 7. El buzón queda vacío y el MWI se actualiza.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Cinco checks E2E nuevos cubren el ciclo completo; los tres flujos viajan sobre IMS-AKA + IPsec.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Cada iteración corrigió una causa raíz concreta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6809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503920" y="1371600"/>
            <a:ext cx="3200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E4A55"/>
                </a:solidFill>
              </a:rPr>
              <a:t>Hitos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It. 1: primer registro AKA + IPsec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It. 4–5: NAT sin estado y SA de dos generaciones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It. 13: parche ims_isc (desvío a buzón)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It. 24: todo Gm en ESP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It. 28–29: 100 % / 100 % consecutivos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PMV de voz: dos de cinco features listos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949440"/>
                <a:gridCol w="22860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A5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FEAT-01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IVR con menú DTMF y flujos por país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E9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FEAT-02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VMS: depósito, MWI, recuperación con PIN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E9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FEAT-03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MCA: aviso de llamada perdida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C2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FEAT-04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CDR en MySQL + API de charging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C2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FEAT-05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Reportes y monitoreo en la UI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C2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C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FEAT-03 depende de FEAT-02 (aviso por MWI en el primer corte); FEAT-05 depende de FEAT-04 (CDR).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Ruta a DEV y cierre del PMV de voz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40480" y="1280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47488" y="1280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54496" y="1280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461504" y="1280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68512" y="1280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875520" y="1280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4592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Provisión de 3 VM DEV (hecho)</a:t>
            </a:r>
            <a:endParaRPr lang="en-US" sz="1300" dirty="0"/>
          </a:p>
        </p:txBody>
      </p:sp>
      <p:sp>
        <p:nvSpPr>
          <p:cNvPr id="10" name="barra-0"/>
          <p:cNvSpPr/>
          <p:nvPr/>
        </p:nvSpPr>
        <p:spPr>
          <a:xfrm>
            <a:off x="3840480" y="1700784"/>
            <a:ext cx="72420" cy="310896"/>
          </a:xfrm>
          <a:prstGeom prst="roundRect">
            <a:avLst>
              <a:gd name="adj" fmla="val 7575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13632" y="16459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12 de oct – 12 de oct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13969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Swarm + E2E 22/22 en DEV (hecho)</a:t>
            </a:r>
            <a:endParaRPr lang="en-US" sz="1300" dirty="0"/>
          </a:p>
        </p:txBody>
      </p:sp>
      <p:sp>
        <p:nvSpPr>
          <p:cNvPr id="13" name="barra-1"/>
          <p:cNvSpPr/>
          <p:nvPr/>
        </p:nvSpPr>
        <p:spPr>
          <a:xfrm>
            <a:off x="3840480" y="2194560"/>
            <a:ext cx="724205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37837" y="213969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12 de oct – 14 de oct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63347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Acceso externo y softphones</a:t>
            </a:r>
            <a:endParaRPr lang="en-US" sz="1300" dirty="0"/>
          </a:p>
        </p:txBody>
      </p:sp>
      <p:sp>
        <p:nvSpPr>
          <p:cNvPr id="16" name="barra-2"/>
          <p:cNvSpPr/>
          <p:nvPr/>
        </p:nvSpPr>
        <p:spPr>
          <a:xfrm>
            <a:off x="4564685" y="2688336"/>
            <a:ext cx="724205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62042" y="2633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15 de oct – 19 de oct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12724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Endurecimiento (prompts, CFNR, SA)</a:t>
            </a:r>
            <a:endParaRPr lang="en-US" sz="1300" dirty="0"/>
          </a:p>
        </p:txBody>
      </p:sp>
      <p:sp>
        <p:nvSpPr>
          <p:cNvPr id="19" name="barra-3"/>
          <p:cNvSpPr/>
          <p:nvPr/>
        </p:nvSpPr>
        <p:spPr>
          <a:xfrm>
            <a:off x="4564685" y="3182112"/>
            <a:ext cx="1931213" cy="310896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69050" y="31272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15 de oct – 26 de oct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6210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FEAT-03 MCA</a:t>
            </a:r>
            <a:endParaRPr lang="en-US" sz="1300" dirty="0"/>
          </a:p>
        </p:txBody>
      </p:sp>
      <p:sp>
        <p:nvSpPr>
          <p:cNvPr id="22" name="barra-4"/>
          <p:cNvSpPr/>
          <p:nvPr/>
        </p:nvSpPr>
        <p:spPr>
          <a:xfrm>
            <a:off x="6495898" y="3675888"/>
            <a:ext cx="1207008" cy="310896"/>
          </a:xfrm>
          <a:prstGeom prst="roundRect">
            <a:avLst>
              <a:gd name="adj" fmla="val 1764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6058" y="362102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27 de oct – 2 de nov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1148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FEAT-04 CDR + API</a:t>
            </a:r>
            <a:endParaRPr lang="en-US" sz="1300" dirty="0"/>
          </a:p>
        </p:txBody>
      </p:sp>
      <p:sp>
        <p:nvSpPr>
          <p:cNvPr id="25" name="barra-5"/>
          <p:cNvSpPr/>
          <p:nvPr/>
        </p:nvSpPr>
        <p:spPr>
          <a:xfrm>
            <a:off x="6495898" y="4169664"/>
            <a:ext cx="1207008" cy="310896"/>
          </a:xfrm>
          <a:prstGeom prst="roundRect">
            <a:avLst>
              <a:gd name="adj" fmla="val 1764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6058" y="41148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27 de oct – 2 de nov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60857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FEAT-05 Reportes UI</a:t>
            </a:r>
            <a:endParaRPr lang="en-US" sz="1300" dirty="0"/>
          </a:p>
        </p:txBody>
      </p:sp>
      <p:sp>
        <p:nvSpPr>
          <p:cNvPr id="28" name="barra-6"/>
          <p:cNvSpPr/>
          <p:nvPr/>
        </p:nvSpPr>
        <p:spPr>
          <a:xfrm>
            <a:off x="7702906" y="4663440"/>
            <a:ext cx="1207008" cy="310896"/>
          </a:xfrm>
          <a:prstGeom prst="roundRect">
            <a:avLst>
              <a:gd name="adj" fmla="val 1764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83066" y="460857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3 de nov – 9 de nov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10235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Validación, demo y HLD</a:t>
            </a:r>
            <a:endParaRPr lang="en-US" sz="1300" dirty="0"/>
          </a:p>
        </p:txBody>
      </p:sp>
      <p:sp>
        <p:nvSpPr>
          <p:cNvPr id="31" name="barra-7"/>
          <p:cNvSpPr/>
          <p:nvPr/>
        </p:nvSpPr>
        <p:spPr>
          <a:xfrm>
            <a:off x="8909914" y="5157216"/>
            <a:ext cx="965606" cy="310896"/>
          </a:xfrm>
          <a:prstGeom prst="roundRect">
            <a:avLst>
              <a:gd name="adj" fmla="val 1764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948672" y="51023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10 de nov – 13 de nov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Duración total: 25 días hábiles (12 de oct → 13 de nov). Hecho: VM DEV entregadas y maqueta verificada en Swarm (12–14 oct). Supuestos: acceso externo y endurecimiento en paralelo; FEAT-03 y FEAT-04 en paralelo.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DEV desplegado en tres servidores con Docker Swarm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.231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Core IMS: P/I/S-CSCF, AS-Front, DNS, RTPEngine (4 vCPU · 8 GB)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463040"/>
            <a:ext cx="256032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756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.232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Base de datos: MySQL, Redis, PyHSS (2 vCPU · 4 GB)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56032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.233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IVR+VMS: FreeSWITCH, UEs de prueba, UI (4 vCPU · 8 GB)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15400" y="1463040"/>
            <a:ext cx="256032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1540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8090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UI web en los tres nodos (malla de ingreso de Swarm)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4048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Redes overlay: mims3_network (IMS, 172.32.0.0/24), mims3_isc (ISC, 172.33.0.0/24) y mims3_management (proxies Docker de la UI).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Ajustes de Swarm: SA IPsec sobre la IP de la tarea del P-CSCF (ESP no pasa por la VIP), Kamailio en todas sus redes (mhomed) y FreeSWITCH en la IP overlay.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Límite de infraestructura: el underlay de 1500 B deja la overlay en 1450 B; con jumbo frames (MTU ≥ 2200) se cumpliría la regla G3.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Ocho pasos para reproducir el DEV de tres nodos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25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Preparar los nodos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 en las 3 VM, módulos esp4/xfrm_user y nf_tables.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325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Formar el Swarm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1737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 swarm init/join; etiquetas role=core-ims, database, ivr.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14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Crear redes overlay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926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mims3_network, mims3_isc y mims3_management (external).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2606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514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Construir imágenes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926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cada nodo, las de los servicios que aloja.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703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Desplegar el stack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114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compose + docker-compose.swarm.yml (.env + .env.swarm) → stack mims3.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200" y="3794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3703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Provisionar HSS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4114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Desde la UI (Configuración) o scripts/provision_hss.sh.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4892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Probar E2E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5303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SWARM_MODE=1 bash scripts/test_maqueta.sh → 22/22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72200" y="4983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220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4892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Verificar 3GPP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5303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bash scripts/capture_iteration_swarm.sh &lt;dir&gt; → 27/28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Riesgos y pendientes que conviene decidir ya</a:t>
            </a:r>
            <a:endParaRPr lang="en-US" sz="3000" dirty="0"/>
          </a:p>
        </p:txBody>
      </p:sp>
      <p:sp>
        <p:nvSpPr>
          <p:cNvPr id="3" name="card-Integración con el HSS del operador"/>
          <p:cNvSpPr/>
          <p:nvPr/>
        </p:nvSpPr>
        <p:spPr>
          <a:xfrm>
            <a:off x="548640" y="13716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Integración con el HSS del operador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40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Cómo enrutará las consultas de buzón hacia el FreeSWITCH correcto sin almacenamiento central (riesgo abierto en la minuta del 25/09).</a:t>
            </a:r>
            <a:endParaRPr lang="en-US" sz="1400" dirty="0"/>
          </a:p>
        </p:txBody>
      </p:sp>
      <p:sp>
        <p:nvSpPr>
          <p:cNvPr id="6" name="card-Softphones externos en DEV"/>
          <p:cNvSpPr/>
          <p:nvPr/>
        </p:nvSpPr>
        <p:spPr>
          <a:xfrm>
            <a:off x="6217920" y="13716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544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Softphones externos en DEV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240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hacen IMS-AKA ni IPsec, y el P-CSCF solo es alcanzable dentro de la overlay: hace falta publicar el P-CSCF y un perfil Digest aislado (TS 33.203 Anexo N).</a:t>
            </a:r>
            <a:endParaRPr lang="en-US" sz="1400" dirty="0"/>
          </a:p>
        </p:txBody>
      </p:sp>
      <p:sp>
        <p:nvSpPr>
          <p:cNvPr id="9" name="card-Prompts de voz del buzón"/>
          <p:cNvSpPr/>
          <p:nvPr/>
        </p:nvSpPr>
        <p:spPr>
          <a:xfrm>
            <a:off x="548640" y="370332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8862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Prompts de voz del buzón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imagen no trae los audios de mod_voicemail; el menú es propio en Lua. Falta grabar o instalar prompts en español.</a:t>
            </a:r>
            <a:endParaRPr lang="en-US" sz="1400" dirty="0"/>
          </a:p>
        </p:txBody>
      </p:sp>
      <p:sp>
        <p:nvSpPr>
          <p:cNvPr id="12" name="card-MTU de la red DEV"/>
          <p:cNvSpPr/>
          <p:nvPr/>
        </p:nvSpPr>
        <p:spPr>
          <a:xfrm>
            <a:off x="6217920" y="370332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8862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MTU de la red DEV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overlay de Swarm queda en 1450 B: REGISTER e INVITE por UDP se fragmentan (G3, RFC 3261 §18.1.1). Pedir jumbo frames o pasar Gm a SIP sobre TCP.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Próximos pasos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1. Publicar la rama con la cuenta con permisos · 2. Pedir jumbo frames en la red DEV (G3) · 3. Abrir acceso de softphones externos · 4. Iniciar FEAT-03 y FEAT-04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S Señalización">
  <a:themeElements>
    <a:clrScheme name="IMS Señalización">
      <a:dk1>
        <a:srgbClr val="17262F"/>
      </a:dk1>
      <a:lt1>
        <a:srgbClr val="FFFFFF"/>
      </a:lt1>
      <a:dk2>
        <a:srgbClr val="0E4A55"/>
      </a:dk2>
      <a:lt2>
        <a:srgbClr val="EEF4F5"/>
      </a:lt2>
      <a:accent1>
        <a:srgbClr val="0F7C8A"/>
      </a:accent1>
      <a:accent2>
        <a:srgbClr val="F0A030"/>
      </a:accent2>
      <a:accent3>
        <a:srgbClr val="3E9A5E"/>
      </a:accent3>
      <a:accent4>
        <a:srgbClr val="C2473A"/>
      </a:accent4>
      <a:accent5>
        <a:srgbClr val="5B6B78"/>
      </a:accent5>
      <a:accent6>
        <a:srgbClr val="9CC9CF"/>
      </a:accent6>
      <a:hlink>
        <a:srgbClr val="0F7C8A"/>
      </a:hlink>
      <a:folHlink>
        <a:srgbClr val="5B6B78"/>
      </a:folHlink>
    </a:clrScheme>
    <a:fontScheme name="IMS Señalizació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HACOM / Amaris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Maqueta IMS uVAS — avance FEAT-02 y ruta a DEV</dc:title>
  <dc:subject>PptxGenJS Presentation</dc:subject>
  <dc:creator>Jhordy Abonia</dc:creator>
  <cp:lastModifiedBy>Jhordy Abonia</cp:lastModifiedBy>
  <cp:revision>1</cp:revision>
  <dcterms:created xsi:type="dcterms:W3CDTF">2026-10-15T04:03:07Z</dcterms:created>
  <dcterms:modified xsi:type="dcterms:W3CDTF">2026-10-15T04:03:07Z</dcterms:modified>
</cp:coreProperties>
</file>