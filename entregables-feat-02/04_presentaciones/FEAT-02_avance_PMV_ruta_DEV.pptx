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Resumen" id="{83a8ef09-f15d-a8de-286a-c0b1ec6dac34}">
          <p14:sldIdLst>
            <p14:sldId id="256"/>
            <p14:sldId id="257"/>
          </p14:sldIdLst>
        </p14:section>
        <p14:section name="Lo construido" id="{61e4bddb-35ff-8c61-d6a2-9a32b676dce4}">
          <p14:sldIdLst>
            <p14:sldId id="258"/>
            <p14:sldId id="259"/>
            <p14:sldId id="260"/>
            <p14:sldId id="261"/>
          </p14:sldIdLst>
        </p14:section>
        <p14:section name="PMV y cronograma" id="{ae751e2c-1477-3163-97b3-23dafddb7f6f}">
          <p14:sldIdLst>
            <p14:sldId id="262"/>
            <p14:sldId id="263"/>
          </p14:sldIdLst>
        </p14:section>
        <p14:section name="Paso a paso DEV" id="{a8f3c255-6484-feb4-543f-40c6cb618c9c}">
          <p14:sldIdLst>
            <p14:sldId id="264"/>
            <p14:sldId id="265"/>
          </p14:sldIdLst>
        </p14:section>
        <p14:section name="Cierre" id="{c2d221b0-9794-73c4-707b-cd1710440090}">
          <p14:sldIdLst>
            <p14:sldId id="266"/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0E4A55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0E4A55"/>
                </a:solidFill>
                <a:latin typeface="+mn-lt"/>
              </a:rPr>
              <a:t>Cumplimiento por iteración</a:t>
            </a:r>
          </a:p>
        </c:rich>
      </c:tx>
      <c:layout/>
      <c:overlay val="0"/>
    </c:title>
    <c:autoTitleDeleted val="0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Reglas 3GPP (%)</c:v>
                </c:pt>
              </c:strCache>
            </c:strRef>
          </c:tx>
          <c:spPr>
            <a:solidFill>
              <a:srgbClr val="0F7C8A"/>
            </a:solidFill>
            <a:ln w="31750" cap="flat">
              <a:solidFill>
                <a:srgbClr val="0F7C8A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0F7C8A"/>
              </a:solidFill>
              <a:ln w="9525" cap="flat">
                <a:solidFill>
                  <a:srgbClr val="0F7C8A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</c:lvl>
              </c:multiLvlStrCache>
            </c:multiLvlStrRef>
          </c:cat>
          <c:val>
            <c:numRef>
              <c:f>Sheet1!$B$2:$B$31</c:f>
              <c:numCache>
                <c:formatCode>General</c:formatCode>
                <c:ptCount val="30"/>
                <c:pt idx="0">
                  <c:v>18.5</c:v>
                </c:pt>
                <c:pt idx="1">
                  <c:v>55.6</c:v>
                </c:pt>
                <c:pt idx="2">
                  <c:v>70.4</c:v>
                </c:pt>
                <c:pt idx="3">
                  <c:v>88.9</c:v>
                </c:pt>
                <c:pt idx="4">
                  <c:v>88.9</c:v>
                </c:pt>
                <c:pt idx="5">
                  <c:v>88.9</c:v>
                </c:pt>
                <c:pt idx="6">
                  <c:v>92.6</c:v>
                </c:pt>
                <c:pt idx="7">
                  <c:v>92.6</c:v>
                </c:pt>
                <c:pt idx="8">
                  <c:v>92.6</c:v>
                </c:pt>
                <c:pt idx="9">
                  <c:v>92.6</c:v>
                </c:pt>
                <c:pt idx="10">
                  <c:v>70.4</c:v>
                </c:pt>
                <c:pt idx="11">
                  <c:v>88.9</c:v>
                </c:pt>
                <c:pt idx="12">
                  <c:v>92.6</c:v>
                </c:pt>
                <c:pt idx="13">
                  <c:v>96.3</c:v>
                </c:pt>
                <c:pt idx="14">
                  <c:v>92.6</c:v>
                </c:pt>
                <c:pt idx="15">
                  <c:v>96.3</c:v>
                </c:pt>
                <c:pt idx="16">
                  <c:v>92.6</c:v>
                </c:pt>
                <c:pt idx="17">
                  <c:v>92.6</c:v>
                </c:pt>
                <c:pt idx="18">
                  <c:v>92.6</c:v>
                </c:pt>
                <c:pt idx="19">
                  <c:v>92.6</c:v>
                </c:pt>
                <c:pt idx="20">
                  <c:v>96.3</c:v>
                </c:pt>
                <c:pt idx="21">
                  <c:v>96.3</c:v>
                </c:pt>
                <c:pt idx="22">
                  <c:v>96.3</c:v>
                </c:pt>
                <c:pt idx="23">
                  <c:v>77.8</c:v>
                </c:pt>
                <c:pt idx="24">
                  <c:v>100</c:v>
                </c:pt>
                <c:pt idx="25">
                  <c:v>100</c:v>
                </c:pt>
                <c:pt idx="26">
                  <c:v>100</c:v>
                </c:pt>
                <c:pt idx="27">
                  <c:v>92.6</c:v>
                </c:pt>
                <c:pt idx="28">
                  <c:v>100</c:v>
                </c:pt>
                <c:pt idx="29">
                  <c:v>100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Checks E2E (%)</c:v>
                </c:pt>
              </c:strCache>
            </c:strRef>
          </c:tx>
          <c:spPr>
            <a:solidFill>
              <a:srgbClr val="F0A030"/>
            </a:solidFill>
            <a:ln w="31750" cap="flat">
              <a:solidFill>
                <a:srgbClr val="F0A030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5"/>
            <c:spPr>
              <a:solidFill>
                <a:srgbClr val="F0A030"/>
              </a:solidFill>
              <a:ln w="9525" cap="flat">
                <a:solidFill>
                  <a:srgbClr val="F0A030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Sheet1!$A$2:$A$31</c:f>
              <c:multiLvlStrCache>
                <c:ptCount val="30"/>
                <c:lvl>
                  <c:pt idx="0">
                    <c:v>0</c:v>
                  </c:pt>
                  <c:pt idx="1">
                    <c:v>1</c:v>
                  </c:pt>
                  <c:pt idx="2">
                    <c:v>2</c:v>
                  </c:pt>
                  <c:pt idx="3">
                    <c:v>3</c:v>
                  </c:pt>
                  <c:pt idx="4">
                    <c:v>4</c:v>
                  </c:pt>
                  <c:pt idx="5">
                    <c:v>5</c:v>
                  </c:pt>
                  <c:pt idx="6">
                    <c:v>6</c:v>
                  </c:pt>
                  <c:pt idx="7">
                    <c:v>7</c:v>
                  </c:pt>
                  <c:pt idx="8">
                    <c:v>8</c:v>
                  </c:pt>
                  <c:pt idx="9">
                    <c:v>9</c:v>
                  </c:pt>
                  <c:pt idx="10">
                    <c:v>10</c:v>
                  </c:pt>
                  <c:pt idx="11">
                    <c:v>11</c:v>
                  </c:pt>
                  <c:pt idx="12">
                    <c:v>12</c:v>
                  </c:pt>
                  <c:pt idx="13">
                    <c:v>13</c:v>
                  </c:pt>
                  <c:pt idx="14">
                    <c:v>14</c:v>
                  </c:pt>
                  <c:pt idx="15">
                    <c:v>15</c:v>
                  </c:pt>
                  <c:pt idx="16">
                    <c:v>16</c:v>
                  </c:pt>
                  <c:pt idx="17">
                    <c:v>17</c:v>
                  </c:pt>
                  <c:pt idx="18">
                    <c:v>18</c:v>
                  </c:pt>
                  <c:pt idx="19">
                    <c:v>19</c:v>
                  </c:pt>
                  <c:pt idx="20">
                    <c:v>20</c:v>
                  </c:pt>
                  <c:pt idx="21">
                    <c:v>21</c:v>
                  </c:pt>
                  <c:pt idx="22">
                    <c:v>22</c:v>
                  </c:pt>
                  <c:pt idx="23">
                    <c:v>23</c:v>
                  </c:pt>
                  <c:pt idx="24">
                    <c:v>24</c:v>
                  </c:pt>
                  <c:pt idx="25">
                    <c:v>25</c:v>
                  </c:pt>
                  <c:pt idx="26">
                    <c:v>26</c:v>
                  </c:pt>
                  <c:pt idx="27">
                    <c:v>27</c:v>
                  </c:pt>
                  <c:pt idx="28">
                    <c:v>28</c:v>
                  </c:pt>
                  <c:pt idx="29">
                    <c:v>29</c:v>
                  </c:pt>
                </c:lvl>
              </c:multiLvlStrCache>
            </c:multiLvlStrRef>
          </c:cat>
          <c:val>
            <c:numRef>
              <c:f>Sheet1!$C$2:$C$31</c:f>
              <c:numCache>
                <c:formatCode>General</c:formatCode>
                <c:ptCount val="30"/>
                <c:pt idx="0">
                  <c:v>80</c:v>
                </c:pt>
                <c:pt idx="1">
                  <c:v>36.4</c:v>
                </c:pt>
                <c:pt idx="2">
                  <c:v>40.9</c:v>
                </c:pt>
                <c:pt idx="3">
                  <c:v>72.7</c:v>
                </c:pt>
                <c:pt idx="4">
                  <c:v>45.5</c:v>
                </c:pt>
                <c:pt idx="5">
                  <c:v>77.3</c:v>
                </c:pt>
                <c:pt idx="6">
                  <c:v>77.3</c:v>
                </c:pt>
                <c:pt idx="7">
                  <c:v>77.3</c:v>
                </c:pt>
                <c:pt idx="8">
                  <c:v>77.3</c:v>
                </c:pt>
                <c:pt idx="9">
                  <c:v>77.3</c:v>
                </c:pt>
                <c:pt idx="10">
                  <c:v>36.4</c:v>
                </c:pt>
                <c:pt idx="11">
                  <c:v>77.3</c:v>
                </c:pt>
                <c:pt idx="12">
                  <c:v>68.2</c:v>
                </c:pt>
                <c:pt idx="13">
                  <c:v>77.3</c:v>
                </c:pt>
                <c:pt idx="14">
                  <c:v>86.4</c:v>
                </c:pt>
                <c:pt idx="15">
                  <c:v>90.9</c:v>
                </c:pt>
                <c:pt idx="16">
                  <c:v>86.4</c:v>
                </c:pt>
                <c:pt idx="17">
                  <c:v>81.8</c:v>
                </c:pt>
                <c:pt idx="18">
                  <c:v>90.9</c:v>
                </c:pt>
                <c:pt idx="19">
                  <c:v>90.9</c:v>
                </c:pt>
                <c:pt idx="20">
                  <c:v>95.5</c:v>
                </c:pt>
                <c:pt idx="21">
                  <c:v>95.5</c:v>
                </c:pt>
                <c:pt idx="22">
                  <c:v>95.5</c:v>
                </c:pt>
                <c:pt idx="23">
                  <c:v>40.9</c:v>
                </c:pt>
                <c:pt idx="24">
                  <c:v>95.5</c:v>
                </c:pt>
                <c:pt idx="25">
                  <c:v>95.5</c:v>
                </c:pt>
                <c:pt idx="26">
                  <c:v>100</c:v>
                </c:pt>
                <c:pt idx="27">
                  <c:v>100</c:v>
                </c:pt>
                <c:pt idx="28">
                  <c:v>100</c:v>
                </c:pt>
                <c:pt idx="29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8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D9E3E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6B78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del avance: FEAT-02 terminado, cumplimiento 3GPP verificado sobre capturas, y plan para el ambiente DEV compartido.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27 reglas citan TS 24.229, TS 33.203, TS 24.606, TS 26.114 y RFC 3261/3329. 100 % es sobre ese conjunto explícito.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Las caídas (iteraciones 10 y 23) son regresiones de prueba: reconstrucción de Kamailio con SA residuales y un intento de enviar el REGISTER inicial desde port_uc, que se revirtió.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Estimación por descomposición de tareas en días hábiles; las fechas se recalculan si cambia la fecha de entrega de la VM, que es la dependencia externa principal.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Detalle de comandos en README.md del repositorio y en entregables-feat-02/README.md.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accent6"/>
                </a:solidFill>
              </a:defRPr>
            </a:lvl1pPr>
          </a:lstStyle>
          <a:p>
            <a:pPr indent="0" marL="0">
              <a:buNone/>
            </a:pP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3" name="Text 0"/>
          <p:cNvSpPr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Maqueta IMS uVAS · FEAT-02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Maqueta IMS uVAS: VMS completo y señalización 3GPP al 100 %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Avance FEAT-02, PMV de voz y paso a paso para llevar la maqueta a un ambiente DEV · octubre 2026</a:t>
            </a:r>
            <a:endParaRPr lang="en-US" sz="2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La maqueta pasa de 5 a 27 reglas 3GPP verificadas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3474720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27/27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reglas 3GPP en la captura final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línea base: 5/27 (18,5 %)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297680" y="1463040"/>
            <a:ext cx="3474720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297680" y="16916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22/22</a:t>
            </a:r>
            <a:endParaRPr lang="en-US" sz="6000" dirty="0"/>
          </a:p>
        </p:txBody>
      </p:sp>
      <p:sp>
        <p:nvSpPr>
          <p:cNvPr id="9" name="Text 7"/>
          <p:cNvSpPr txBox="1"/>
          <p:nvPr/>
        </p:nvSpPr>
        <p:spPr>
          <a:xfrm>
            <a:off x="457200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checks E2E del test de la maqueta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antes: 16/20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046720" y="1463040"/>
            <a:ext cx="3474720" cy="2926080"/>
          </a:xfrm>
          <a:prstGeom prst="roundRect">
            <a:avLst>
              <a:gd name="adj" fmla="val 468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1691640"/>
            <a:ext cx="3474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103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321040" y="2926080"/>
            <a:ext cx="29260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paquetes ESP con integridad verificada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3657600"/>
            <a:ext cx="2926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5"/>
                </a:solidFill>
              </a:rPr>
              <a:t>IMS-AKA + IPsec en Gm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84632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Verificado en 29 iteraciones de captura (tcpdump → tshark -Y sip → check_3gpp.py); dos corridas finales consecutivas al 100 %.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Cada servicio es un AS tras una iFC; el Core no cambia</a:t>
            </a:r>
            <a:endParaRPr lang="en-US" sz="3000" dirty="0"/>
          </a:p>
        </p:txBody>
      </p:sp>
      <p:sp>
        <p:nvSpPr>
          <p:cNvPr id="3" name="nodo-UE IMS"/>
          <p:cNvSpPr/>
          <p:nvPr/>
        </p:nvSpPr>
        <p:spPr>
          <a:xfrm>
            <a:off x="457200" y="1828800"/>
            <a:ext cx="1645920" cy="1737360"/>
          </a:xfrm>
          <a:prstGeom prst="roundRect">
            <a:avLst>
              <a:gd name="adj" fmla="val 8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UE IMS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4688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pjsua + IMS-AKA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IPsec ESP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121408" y="2560320"/>
            <a:ext cx="237744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7" name="nodo-P-CSCF"/>
          <p:cNvSpPr/>
          <p:nvPr/>
        </p:nvSpPr>
        <p:spPr>
          <a:xfrm>
            <a:off x="2377440" y="1828800"/>
            <a:ext cx="1645920" cy="173736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237744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P-CSCF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2468880" y="24688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sec-agree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SA ESP · PAI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041648" y="2560320"/>
            <a:ext cx="237744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1" name="nodo-I-CSCF"/>
          <p:cNvSpPr/>
          <p:nvPr/>
        </p:nvSpPr>
        <p:spPr>
          <a:xfrm>
            <a:off x="4297680" y="1828800"/>
            <a:ext cx="1645920" cy="173736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29768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I-CSCF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4389120" y="24688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UAR / LIR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61888" y="2560320"/>
            <a:ext cx="237744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5" name="nodo-S-CSCF"/>
          <p:cNvSpPr/>
          <p:nvPr/>
        </p:nvSpPr>
        <p:spPr>
          <a:xfrm>
            <a:off x="6217920" y="1828800"/>
            <a:ext cx="1645920" cy="1737360"/>
          </a:xfrm>
          <a:prstGeom prst="roundRect">
            <a:avLst>
              <a:gd name="adj" fmla="val 8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21792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S-CSCF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309360" y="24688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MAR/SAR · iFC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P10 · P30 · P40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7882128" y="2560320"/>
            <a:ext cx="237744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9" name="nodo-AS-Front"/>
          <p:cNvSpPr/>
          <p:nvPr/>
        </p:nvSpPr>
        <p:spPr>
          <a:xfrm>
            <a:off x="8138160" y="1828800"/>
            <a:ext cx="1645920" cy="173736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13816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AS-Front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8229600" y="24688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ISC → SIP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9802368" y="2560320"/>
            <a:ext cx="237744" cy="27432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3" name="nodo-FreeSWITCH"/>
          <p:cNvSpPr/>
          <p:nvPr/>
        </p:nvSpPr>
        <p:spPr>
          <a:xfrm>
            <a:off x="10058400" y="1828800"/>
            <a:ext cx="1645920" cy="1737360"/>
          </a:xfrm>
          <a:prstGeom prst="roundRect">
            <a:avLst>
              <a:gd name="adj" fmla="val 8333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10058400" y="1920240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FreeSWITCH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10149840" y="2468880"/>
            <a:ext cx="14630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bg1"/>
                </a:solidFill>
              </a:rPr>
              <a:t>IVR · VMS · MWI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6217920" y="4023360"/>
            <a:ext cx="1645920" cy="914400"/>
          </a:xfrm>
          <a:prstGeom prst="roundRect">
            <a:avLst>
              <a:gd name="adj" fmla="val 12000"/>
            </a:avLst>
          </a:prstGeom>
          <a:solidFill>
            <a:schemeClr val="bg2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6217920" y="4023360"/>
            <a:ext cx="16459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PyHSS (Cx)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perfiles + vectores AKA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21208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Gm (UE – P-CSCF):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toda la señalización dentro de ESP tras el registro.</a:t>
            </a:r>
            <a:endParaRPr lang="en-US" sz="1500" dirty="0"/>
          </a:p>
          <a:p>
            <a:pPr indent="0" marL="0">
              <a:buNone/>
            </a:pPr>
            <a:r>
              <a:rPr lang="en-US" sz="1500" b="1" dirty="0">
                <a:solidFill>
                  <a:schemeClr val="tx1"/>
                </a:solidFill>
              </a:rPr>
              <a:t>ISC: </a:t>
            </a:r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IVR 0100002, buzón 0100003/0100004, MWI y depósito por no registrado.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Autenticación y seguridad: de simulada a real</a:t>
            </a:r>
            <a:endParaRPr lang="en-US" sz="3000" dirty="0"/>
          </a:p>
        </p:txBody>
      </p:sp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023360"/>
                <a:gridCol w="466344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Aspecto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Antes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Ahora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Autenticación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Digest MD5 (fallback)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IMS-AKA obligatorio (AKAv1-MD5)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pjsua sin AKA real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K/OPc/AMF, IMPI desde el 1er REGISTER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sec-agree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Security-Server de eco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ims_ipsec_pcscf con SPI/puertos propios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Gm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SIP en claro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IPsec ESP (hmac-sha-1-96), SA renovadas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Hacia el core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Security-* y sec-agree filtrados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5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Retirados; integrity-protected yes/no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12064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Evidencia: la respuesta AKA (RES), el AUTN (MAC-A) y el ICV de cada paquete ESP se recalculan con Milenage a partir de la captura.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FEAT-02: depositar, avisar y recuperar el mensaje</a:t>
            </a:r>
            <a:endParaRPr lang="en-US" sz="3000" dirty="0"/>
          </a:p>
        </p:txBody>
      </p:sp>
      <p:sp>
        <p:nvSpPr>
          <p:cNvPr id="3" name="card-Depósito"/>
          <p:cNvSpPr/>
          <p:nvPr/>
        </p:nvSpPr>
        <p:spPr>
          <a:xfrm>
            <a:off x="548640" y="1371600"/>
            <a:ext cx="35661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77240" y="160020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77724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146304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Depósito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777240" y="22402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UE1 llama a UE2 no registrado. El S-CSCF pide el perfil (SAR unregistered) y la iFC P40 lo desvía al AS: mod_voicemail graba en el buzón del MSISDN.</a:t>
            </a:r>
            <a:endParaRPr lang="en-US" sz="1400" dirty="0"/>
          </a:p>
        </p:txBody>
      </p:sp>
      <p:sp>
        <p:nvSpPr>
          <p:cNvPr id="8" name="card-MWI"/>
          <p:cNvSpPr/>
          <p:nvPr/>
        </p:nvSpPr>
        <p:spPr>
          <a:xfrm>
            <a:off x="4297680" y="1371600"/>
            <a:ext cx="35661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26280" y="1600200"/>
            <a:ext cx="548640" cy="54864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52628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521208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MWI</a:t>
            </a:r>
            <a:endParaRPr lang="en-US" sz="1800" dirty="0"/>
          </a:p>
        </p:txBody>
      </p:sp>
      <p:sp>
        <p:nvSpPr>
          <p:cNvPr id="12" name="Text 10"/>
          <p:cNvSpPr txBox="1"/>
          <p:nvPr/>
        </p:nvSpPr>
        <p:spPr>
          <a:xfrm>
            <a:off x="4526280" y="22402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UE2 se suscribe a message-summary (iFC P10). El AS notifica en el diálogo: Messages-Waiting yes tras depositar y no tras borrar (TS 24.606).</a:t>
            </a:r>
            <a:endParaRPr lang="en-US" sz="1400" dirty="0"/>
          </a:p>
        </p:txBody>
      </p:sp>
      <p:sp>
        <p:nvSpPr>
          <p:cNvPr id="13" name="card-Recuperación"/>
          <p:cNvSpPr/>
          <p:nvPr/>
        </p:nvSpPr>
        <p:spPr>
          <a:xfrm>
            <a:off x="8046720" y="1371600"/>
            <a:ext cx="3566160" cy="2926080"/>
          </a:xfrm>
          <a:prstGeom prst="roundRect">
            <a:avLst>
              <a:gd name="adj" fmla="val 37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275320" y="1600200"/>
            <a:ext cx="548640" cy="54864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75320" y="16002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6" name="Text 14"/>
          <p:cNvSpPr txBox="1"/>
          <p:nvPr/>
        </p:nvSpPr>
        <p:spPr>
          <a:xfrm>
            <a:off x="8961120" y="1554480"/>
            <a:ext cx="2468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Recuperación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8275320" y="2240280"/>
            <a:ext cx="3108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UE2 llama al 0100004, marca el PIN (DTMF), escucha con 1 y borra con 7. El buzón queda vacío y el MWI se actualiza.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548640" y="457200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</a:rPr>
              <a:t>Cinco checks E2E nuevos cubren el ciclo completo; los tres flujos viajan sobre IMS-AKA + IPsec.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Cada iteración corrigió una causa raíz concreta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280160"/>
          <a:ext cx="768096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8503920" y="1371600"/>
            <a:ext cx="3200400" cy="4480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spcAft>
                <a:spcPts val="600"/>
              </a:spcAft>
              <a:buNone/>
            </a:pPr>
            <a:r>
              <a:rPr lang="en-US" sz="1800" b="1" dirty="0">
                <a:solidFill>
                  <a:srgbClr val="0E4A55"/>
                </a:solidFill>
              </a:rPr>
              <a:t>Hitos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It. 1: primer registro AKA + IPsec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It. 4–5: NAT sin estado y SA de dos generaciones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It. 13: parche ims_isc (desvío a buzón)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It. 24: todo Gm en ESP</a:t>
            </a:r>
            <a:endParaRPr lang="en-US" sz="14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It. 28–29: 100 % / 100 % consecutivos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PMV de voz: dos de cinco features listos</a:t>
            </a:r>
            <a:endParaRPr lang="en-US" sz="30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6949440"/>
                <a:gridCol w="2286000"/>
              </a:tblGrid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Alcance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4A5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FEAT-01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IVR con menú DTMF y flujos por país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E9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FEAT-02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VMS: depósito, MWI, recuperación con PIN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3E9A5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FEAT-03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MCA: aviso de llamada perdida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247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FEAT-04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CDR en MySQL + API de charging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247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FEAT-05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dirty="0">
                          <a:solidFill>
                            <a:srgbClr val="17262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Reportes y monitoreo en la UI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600" b="1" dirty="0">
                          <a:solidFill>
                            <a:srgbClr val="C2473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Pendiente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9CC9C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4F5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3035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accent5"/>
                </a:solidFill>
              </a:rPr>
              <a:t>FEAT-03 depende de FEAT-02 (aviso por MWI en el primer corte); FEAT-05 depende de FEAT-04 (CDR).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Ruta a DEV y cierre del PMV de voz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3840480" y="1280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S1</a:t>
            </a:r>
            <a:endParaRPr lang="en-US" sz="1000" dirty="0"/>
          </a:p>
        </p:txBody>
      </p:sp>
      <p:sp>
        <p:nvSpPr>
          <p:cNvPr id="4" name="Text 2"/>
          <p:cNvSpPr txBox="1"/>
          <p:nvPr/>
        </p:nvSpPr>
        <p:spPr>
          <a:xfrm>
            <a:off x="4846320" y="1280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S2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5852160" y="1280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S3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858000" y="1280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S4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7863840" y="1280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S5</a:t>
            </a:r>
            <a:endParaRPr lang="en-US" sz="1000" dirty="0"/>
          </a:p>
        </p:txBody>
      </p:sp>
      <p:sp>
        <p:nvSpPr>
          <p:cNvPr id="8" name="Text 6"/>
          <p:cNvSpPr txBox="1"/>
          <p:nvPr/>
        </p:nvSpPr>
        <p:spPr>
          <a:xfrm>
            <a:off x="8869680" y="1280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S6</a:t>
            </a:r>
            <a:endParaRPr lang="en-US" sz="1000" dirty="0"/>
          </a:p>
        </p:txBody>
      </p:sp>
      <p:sp>
        <p:nvSpPr>
          <p:cNvPr id="9" name="Text 7"/>
          <p:cNvSpPr txBox="1"/>
          <p:nvPr/>
        </p:nvSpPr>
        <p:spPr>
          <a:xfrm>
            <a:off x="9875520" y="1280160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S7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1645920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Solicitud y provisión de VM DEV</a:t>
            </a:r>
            <a:endParaRPr lang="en-US" sz="1300" dirty="0"/>
          </a:p>
        </p:txBody>
      </p:sp>
      <p:sp>
        <p:nvSpPr>
          <p:cNvPr id="11" name="barra-0"/>
          <p:cNvSpPr/>
          <p:nvPr/>
        </p:nvSpPr>
        <p:spPr>
          <a:xfrm>
            <a:off x="3840480" y="1700784"/>
            <a:ext cx="1005840" cy="310896"/>
          </a:xfrm>
          <a:prstGeom prst="roundRect">
            <a:avLst>
              <a:gd name="adj" fmla="val 1764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919472" y="164592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12 de oct – 16 de oct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213969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Despliegue maqueta + E2E 22/22 en DEV</a:t>
            </a:r>
            <a:endParaRPr lang="en-US" sz="1300" dirty="0"/>
          </a:p>
        </p:txBody>
      </p:sp>
      <p:sp>
        <p:nvSpPr>
          <p:cNvPr id="14" name="barra-1"/>
          <p:cNvSpPr/>
          <p:nvPr/>
        </p:nvSpPr>
        <p:spPr>
          <a:xfrm>
            <a:off x="4846320" y="2194560"/>
            <a:ext cx="603504" cy="310896"/>
          </a:xfrm>
          <a:prstGeom prst="roundRect">
            <a:avLst>
              <a:gd name="adj" fmla="val 17647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5522976" y="213969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19 de oct – 21 de oct</a:t>
            </a:r>
            <a:endParaRPr lang="en-US" sz="10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263347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Acceso externo y softphones</a:t>
            </a:r>
            <a:endParaRPr lang="en-US" sz="1300" dirty="0"/>
          </a:p>
        </p:txBody>
      </p:sp>
      <p:sp>
        <p:nvSpPr>
          <p:cNvPr id="17" name="barra-2"/>
          <p:cNvSpPr/>
          <p:nvPr/>
        </p:nvSpPr>
        <p:spPr>
          <a:xfrm>
            <a:off x="5449824" y="2688336"/>
            <a:ext cx="603504" cy="310896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126480" y="263347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22 de oct – 26 de oct</a:t>
            </a:r>
            <a:endParaRPr lang="en-US" sz="10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3127248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Endurecimiento (prompts, CFNR, SA)</a:t>
            </a:r>
            <a:endParaRPr lang="en-US" sz="1300" dirty="0"/>
          </a:p>
        </p:txBody>
      </p:sp>
      <p:sp>
        <p:nvSpPr>
          <p:cNvPr id="20" name="barra-3"/>
          <p:cNvSpPr/>
          <p:nvPr/>
        </p:nvSpPr>
        <p:spPr>
          <a:xfrm>
            <a:off x="5449824" y="3182112"/>
            <a:ext cx="1609344" cy="310896"/>
          </a:xfrm>
          <a:prstGeom prst="roundRect">
            <a:avLst>
              <a:gd name="adj" fmla="val 17647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7132320" y="3127248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22 de oct – 2 de nov</a:t>
            </a:r>
            <a:endParaRPr lang="en-US" sz="100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3621024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FEAT-03 MCA</a:t>
            </a:r>
            <a:endParaRPr lang="en-US" sz="1300" dirty="0"/>
          </a:p>
        </p:txBody>
      </p:sp>
      <p:sp>
        <p:nvSpPr>
          <p:cNvPr id="23" name="barra-4"/>
          <p:cNvSpPr/>
          <p:nvPr/>
        </p:nvSpPr>
        <p:spPr>
          <a:xfrm>
            <a:off x="7059168" y="3675888"/>
            <a:ext cx="1005840" cy="310896"/>
          </a:xfrm>
          <a:prstGeom prst="roundRect">
            <a:avLst>
              <a:gd name="adj" fmla="val 1764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138160" y="3621024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3 de nov – 9 de nov</a:t>
            </a:r>
            <a:endParaRPr lang="en-US" sz="1000" dirty="0"/>
          </a:p>
        </p:txBody>
      </p:sp>
      <p:sp>
        <p:nvSpPr>
          <p:cNvPr id="25" name="Text 23"/>
          <p:cNvSpPr txBox="1"/>
          <p:nvPr/>
        </p:nvSpPr>
        <p:spPr>
          <a:xfrm>
            <a:off x="548640" y="4114800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FEAT-04 CDR + API</a:t>
            </a:r>
            <a:endParaRPr lang="en-US" sz="1300" dirty="0"/>
          </a:p>
        </p:txBody>
      </p:sp>
      <p:sp>
        <p:nvSpPr>
          <p:cNvPr id="26" name="barra-5"/>
          <p:cNvSpPr/>
          <p:nvPr/>
        </p:nvSpPr>
        <p:spPr>
          <a:xfrm>
            <a:off x="7059168" y="4169664"/>
            <a:ext cx="1005840" cy="310896"/>
          </a:xfrm>
          <a:prstGeom prst="roundRect">
            <a:avLst>
              <a:gd name="adj" fmla="val 1764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138160" y="4114800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3 de nov – 9 de nov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4608576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FEAT-05 Reportes UI</a:t>
            </a:r>
            <a:endParaRPr lang="en-US" sz="1300" dirty="0"/>
          </a:p>
        </p:txBody>
      </p:sp>
      <p:sp>
        <p:nvSpPr>
          <p:cNvPr id="29" name="barra-6"/>
          <p:cNvSpPr/>
          <p:nvPr/>
        </p:nvSpPr>
        <p:spPr>
          <a:xfrm>
            <a:off x="8065008" y="4663440"/>
            <a:ext cx="1005840" cy="310896"/>
          </a:xfrm>
          <a:prstGeom prst="roundRect">
            <a:avLst>
              <a:gd name="adj" fmla="val 17647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9144000" y="4608576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10 de nov – 16 de nov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48640" y="5102352"/>
            <a:ext cx="3383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Validación, demo y HLD</a:t>
            </a:r>
            <a:endParaRPr lang="en-US" sz="1300" dirty="0"/>
          </a:p>
        </p:txBody>
      </p:sp>
      <p:sp>
        <p:nvSpPr>
          <p:cNvPr id="32" name="barra-7"/>
          <p:cNvSpPr/>
          <p:nvPr/>
        </p:nvSpPr>
        <p:spPr>
          <a:xfrm>
            <a:off x="9070848" y="5157216"/>
            <a:ext cx="804672" cy="310896"/>
          </a:xfrm>
          <a:prstGeom prst="roundRect">
            <a:avLst>
              <a:gd name="adj" fmla="val 1764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9948672" y="5102352"/>
            <a:ext cx="20116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17 de nov – 20 de nov</a:t>
            </a:r>
            <a:endParaRPr lang="en-US" sz="1000" dirty="0"/>
          </a:p>
        </p:txBody>
      </p:sp>
      <p:sp>
        <p:nvSpPr>
          <p:cNvPr id="34" name="Text 32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chemeClr val="accent5"/>
                </a:solidFill>
              </a:rPr>
              <a:t>Duración total: 30 días hábiles (12 de oct → 20 de nov). Supuestos: VM entregada en 5 días; acceso externo y endurecimiento en paralelo; FEAT-03 y FEAT-04 en paralelo.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Qué pedir a infraestructura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2560320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 vCPU</a:t>
            </a:r>
            <a:endParaRPr lang="en-US" sz="3600" dirty="0"/>
          </a:p>
        </p:txBody>
      </p:sp>
      <p:sp>
        <p:nvSpPr>
          <p:cNvPr id="5" name="Text 3"/>
          <p:cNvSpPr txBox="1"/>
          <p:nvPr/>
        </p:nvSpPr>
        <p:spPr>
          <a:xfrm>
            <a:off x="731520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CPU recomendada (mínimo 4)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3337560" y="1463040"/>
            <a:ext cx="2560320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33756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GB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3520440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RAM recomendada (mínimo 8)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126480" y="1463040"/>
            <a:ext cx="2560320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12648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80 GB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6309360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SSD (imágenes ~6 GB + capturas)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8915400" y="1463040"/>
            <a:ext cx="2560320" cy="2011680"/>
          </a:xfrm>
          <a:prstGeom prst="roundRect">
            <a:avLst>
              <a:gd name="adj" fmla="val 6818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915400" y="1645920"/>
            <a:ext cx="2560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Linux</a:t>
            </a:r>
            <a:endParaRPr lang="en-US" sz="3600" dirty="0"/>
          </a:p>
        </p:txBody>
      </p:sp>
      <p:sp>
        <p:nvSpPr>
          <p:cNvPr id="14" name="Text 12"/>
          <p:cNvSpPr txBox="1"/>
          <p:nvPr/>
        </p:nvSpPr>
        <p:spPr>
          <a:xfrm>
            <a:off x="9098280" y="251460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kernel con xfrm/esp4 y nftables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3840480"/>
            <a:ext cx="1106424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Docker Engine + Compose v2; acceso SSH al repositorio hacom-ivr.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Red: ruta de la LAN/VPN de desarrollo hacia 172.32.0.0/24 (sin NAT: IPsec ESP no atraviesa NAT sin UDP-encap).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</a:rPr>
              <a:t>Puerto 8090/TCP para la UI de operación; UDP 5060 y 6100-6109/5100-5109 del P-CSCF.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Ocho pasos de la VM vacía a la maqueta verificada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1280160" y="13258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Preparar la VM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280160" y="17373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+ Compose, módulos esp4/xfrm_user y nf_tables.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172200" y="141732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172200" y="141732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903720" y="132588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Clonar la rama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903720" y="173736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git clone … &amp;&amp; git checkout feature/feat-02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606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54864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1280160" y="25146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Ajustar .env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280160" y="29260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IPs de la red y dominio (MCC/MNC) si cambian.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6172200" y="260604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172200" y="260604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4</a:t>
            </a:r>
            <a:endParaRPr lang="en-US" sz="1800" dirty="0"/>
          </a:p>
        </p:txBody>
      </p:sp>
      <p:sp>
        <p:nvSpPr>
          <p:cNvPr id="17" name="Text 15"/>
          <p:cNvSpPr txBox="1"/>
          <p:nvPr/>
        </p:nvSpPr>
        <p:spPr>
          <a:xfrm>
            <a:off x="6903720" y="251460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Construir y levantar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903720" y="29260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docker compose up -d --build (14 contenedores).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54864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5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1280160" y="37033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Provisionar HSS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280160" y="41148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scripts/provision_hss.sh (suscriptores e iFC).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6172200" y="379476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172200" y="37947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6</a:t>
            </a:r>
            <a:endParaRPr lang="en-US" sz="1800" dirty="0"/>
          </a:p>
        </p:txBody>
      </p:sp>
      <p:sp>
        <p:nvSpPr>
          <p:cNvPr id="25" name="Text 23"/>
          <p:cNvSpPr txBox="1"/>
          <p:nvPr/>
        </p:nvSpPr>
        <p:spPr>
          <a:xfrm>
            <a:off x="6903720" y="370332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Probar E2E</a:t>
            </a:r>
            <a:endParaRPr lang="en-US" sz="1700" dirty="0"/>
          </a:p>
        </p:txBody>
      </p:sp>
      <p:sp>
        <p:nvSpPr>
          <p:cNvPr id="26" name="Text 24"/>
          <p:cNvSpPr txBox="1"/>
          <p:nvPr/>
        </p:nvSpPr>
        <p:spPr>
          <a:xfrm>
            <a:off x="6903720" y="411480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bash scripts/test_maqueta.sh → 22/22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54864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4864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7</a:t>
            </a:r>
            <a:endParaRPr lang="en-US" sz="1800" dirty="0"/>
          </a:p>
        </p:txBody>
      </p:sp>
      <p:sp>
        <p:nvSpPr>
          <p:cNvPr id="29" name="Text 27"/>
          <p:cNvSpPr txBox="1"/>
          <p:nvPr/>
        </p:nvSpPr>
        <p:spPr>
          <a:xfrm>
            <a:off x="1280160" y="48920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Verificar 3GPP</a:t>
            </a:r>
            <a:endParaRPr lang="en-US" sz="1700" dirty="0"/>
          </a:p>
        </p:txBody>
      </p:sp>
      <p:sp>
        <p:nvSpPr>
          <p:cNvPr id="30" name="Text 28"/>
          <p:cNvSpPr txBox="1"/>
          <p:nvPr/>
        </p:nvSpPr>
        <p:spPr>
          <a:xfrm>
            <a:off x="1280160" y="5303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bash scripts/capture_iteration.sh &lt;dir&gt; → 27/27</a:t>
            </a:r>
            <a:endParaRPr lang="en-US" sz="1400" dirty="0"/>
          </a:p>
        </p:txBody>
      </p:sp>
      <p:sp>
        <p:nvSpPr>
          <p:cNvPr id="31" name="Shape 29"/>
          <p:cNvSpPr/>
          <p:nvPr/>
        </p:nvSpPr>
        <p:spPr>
          <a:xfrm>
            <a:off x="6172200" y="4983480"/>
            <a:ext cx="548640" cy="548640"/>
          </a:xfrm>
          <a:prstGeom prst="ellipse">
            <a:avLst/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172200" y="49834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8</a:t>
            </a:r>
            <a:endParaRPr lang="en-US" sz="1800" dirty="0"/>
          </a:p>
        </p:txBody>
      </p:sp>
      <p:sp>
        <p:nvSpPr>
          <p:cNvPr id="33" name="Text 31"/>
          <p:cNvSpPr txBox="1"/>
          <p:nvPr/>
        </p:nvSpPr>
        <p:spPr>
          <a:xfrm>
            <a:off x="6903720" y="48920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Abrir acceso</a:t>
            </a:r>
            <a:endParaRPr lang="en-US" sz="1700" dirty="0"/>
          </a:p>
        </p:txBody>
      </p:sp>
      <p:sp>
        <p:nvSpPr>
          <p:cNvPr id="34" name="Text 32"/>
          <p:cNvSpPr txBox="1"/>
          <p:nvPr/>
        </p:nvSpPr>
        <p:spPr>
          <a:xfrm>
            <a:off x="6903720" y="530352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Ruta LAN→172.32.0.0/24 y softphones (tutorial).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Riesgos y pendientes que conviene decidir ya</a:t>
            </a:r>
            <a:endParaRPr lang="en-US" sz="3000" dirty="0"/>
          </a:p>
        </p:txBody>
      </p:sp>
      <p:sp>
        <p:nvSpPr>
          <p:cNvPr id="3" name="card-Integración con el HSS del operador"/>
          <p:cNvSpPr/>
          <p:nvPr/>
        </p:nvSpPr>
        <p:spPr>
          <a:xfrm>
            <a:off x="548640" y="137160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5544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Integración con el HSS del operador</a:t>
            </a:r>
            <a:endParaRPr lang="en-US" sz="18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240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Cómo enrutará las consultas de buzón hacia el FreeSWITCH correcto sin almacenamiento central (riesgo abierto en la minuta del 25/09).</a:t>
            </a:r>
            <a:endParaRPr lang="en-US" sz="1400" dirty="0"/>
          </a:p>
        </p:txBody>
      </p:sp>
      <p:sp>
        <p:nvSpPr>
          <p:cNvPr id="6" name="card-Softphones comerciales"/>
          <p:cNvSpPr/>
          <p:nvPr/>
        </p:nvSpPr>
        <p:spPr>
          <a:xfrm>
            <a:off x="6217920" y="137160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446520" y="155448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Softphones comerciales</a:t>
            </a:r>
            <a:endParaRPr lang="en-US" sz="1800" dirty="0"/>
          </a:p>
        </p:txBody>
      </p:sp>
      <p:sp>
        <p:nvSpPr>
          <p:cNvPr id="8" name="Text 6"/>
          <p:cNvSpPr txBox="1"/>
          <p:nvPr/>
        </p:nvSpPr>
        <p:spPr>
          <a:xfrm>
            <a:off x="6446520" y="224028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No hacen IMS-AKA ni IPsec. En DEV se habilita un perfil SIP Digest (TS 33.203 Anexo N) aislado; producción solo AKA.</a:t>
            </a:r>
            <a:endParaRPr lang="en-US" sz="1400" dirty="0"/>
          </a:p>
        </p:txBody>
      </p:sp>
      <p:sp>
        <p:nvSpPr>
          <p:cNvPr id="9" name="card-Prompts de voz del buzón"/>
          <p:cNvSpPr/>
          <p:nvPr/>
        </p:nvSpPr>
        <p:spPr>
          <a:xfrm>
            <a:off x="548640" y="370332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777240" y="38862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Prompts de voz del buzón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45720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La imagen no trae los audios de mod_voicemail; el menú es propio en Lua. Falta grabar o instalar prompts en español.</a:t>
            </a:r>
            <a:endParaRPr lang="en-US" sz="1400" dirty="0"/>
          </a:p>
        </p:txBody>
      </p:sp>
      <p:sp>
        <p:nvSpPr>
          <p:cNvPr id="12" name="card-Dependencia de infraestructura"/>
          <p:cNvSpPr/>
          <p:nvPr/>
        </p:nvSpPr>
        <p:spPr>
          <a:xfrm>
            <a:off x="6217920" y="3703320"/>
            <a:ext cx="5394960" cy="2103120"/>
          </a:xfrm>
          <a:prstGeom prst="roundRect">
            <a:avLst>
              <a:gd name="adj" fmla="val 52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446520" y="3886200"/>
            <a:ext cx="4983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Dependencia de infraestructura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6446520" y="4572000"/>
            <a:ext cx="49377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Sin VM DEV no avanza la validación compartida: es la primera tarea de la ruta crítica.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55680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201168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</a:rPr>
              <a:t>Próximos pasos</a:t>
            </a:r>
            <a:endParaRPr lang="en-US" sz="44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3657600"/>
            <a:ext cx="1069848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accent6"/>
                </a:solidFill>
              </a:rPr>
              <a:t>1. Solicitar la VM DEV (8 vCPU / 16 GB / 80 GB) · 2. Desplegar y repetir 22/22 y 27/27 en DEV · 3. Abrir acceso de softphones · 4. Iniciar FEAT-03 y FEAT-04</a:t>
            </a:r>
            <a:endParaRPr lang="en-US" sz="2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IMS Señalización">
  <a:themeElements>
    <a:clrScheme name="IMS Señalización">
      <a:dk1>
        <a:srgbClr val="17262F"/>
      </a:dk1>
      <a:lt1>
        <a:srgbClr val="FFFFFF"/>
      </a:lt1>
      <a:dk2>
        <a:srgbClr val="0E4A55"/>
      </a:dk2>
      <a:lt2>
        <a:srgbClr val="EEF4F5"/>
      </a:lt2>
      <a:accent1>
        <a:srgbClr val="0F7C8A"/>
      </a:accent1>
      <a:accent2>
        <a:srgbClr val="F0A030"/>
      </a:accent2>
      <a:accent3>
        <a:srgbClr val="3E9A5E"/>
      </a:accent3>
      <a:accent4>
        <a:srgbClr val="C2473A"/>
      </a:accent4>
      <a:accent5>
        <a:srgbClr val="5B6B78"/>
      </a:accent5>
      <a:accent6>
        <a:srgbClr val="9CC9CF"/>
      </a:accent6>
      <a:hlink>
        <a:srgbClr val="0F7C8A"/>
      </a:hlink>
      <a:folHlink>
        <a:srgbClr val="5B6B78"/>
      </a:folHlink>
    </a:clrScheme>
    <a:fontScheme name="IMS Señalización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HACOM / Amaris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Maqueta IMS uVAS — avance FEAT-02 y ruta a DEV</dc:title>
  <dc:subject>PptxGenJS Presentation</dc:subject>
  <dc:creator>Jhordy Abonia</dc:creator>
  <cp:lastModifiedBy>Jhordy Abonia</cp:lastModifiedBy>
  <cp:revision>1</cp:revision>
  <dcterms:created xsi:type="dcterms:W3CDTF">2026-10-06T06:28:22Z</dcterms:created>
  <dcterms:modified xsi:type="dcterms:W3CDTF">2026-10-06T06:28:22Z</dcterms:modified>
</cp:coreProperties>
</file>